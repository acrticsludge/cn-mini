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57" r:id="rId4"/>
    <p:sldId id="259" r:id="rId5"/>
    <p:sldId id="270" r:id="rId6"/>
    <p:sldId id="260" r:id="rId7"/>
    <p:sldId id="269" r:id="rId8"/>
    <p:sldId id="261" r:id="rId9"/>
    <p:sldId id="262" r:id="rId10"/>
    <p:sldId id="263" r:id="rId11"/>
    <p:sldId id="264" r:id="rId12"/>
    <p:sldId id="271" r:id="rId13"/>
    <p:sldId id="265" r:id="rId14"/>
    <p:sldId id="266" r:id="rId15"/>
    <p:sldId id="267"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5" d="100"/>
          <a:sy n="145"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E5E7EB"/>
                </a:solidFill>
                <a:latin typeface="Arial"/>
              </a:defRPr>
            </a:pPr>
            <a:r>
              <a:rPr lang="en-US" sz="1200" b="0" i="0" u="none" strike="noStrike">
                <a:solidFill>
                  <a:srgbClr val="E5E7EB"/>
                </a:solidFill>
                <a:latin typeface="Arial"/>
              </a:rPr>
              <a:t>Avg throughput, 1 MB file, n = 5</a:t>
            </a:r>
          </a:p>
        </c:rich>
      </c:tx>
      <c:overlay val="0"/>
    </c:title>
    <c:autoTitleDeleted val="0"/>
    <c:plotArea>
      <c:layout/>
      <c:barChart>
        <c:barDir val="col"/>
        <c:grouping val="clustered"/>
        <c:varyColors val="0"/>
        <c:ser>
          <c:idx val="0"/>
          <c:order val="0"/>
          <c:tx>
            <c:strRef>
              <c:f>Sheet1!$B$1</c:f>
              <c:strCache>
                <c:ptCount val="1"/>
                <c:pt idx="0">
                  <c:v>Avg throughput (KB/s)</c:v>
                </c:pt>
              </c:strCache>
            </c:strRef>
          </c:tx>
          <c:spPr>
            <a:solidFill>
              <a:srgbClr val="22D3EE"/>
            </a:solidFill>
            <a:effectLst/>
          </c:spPr>
          <c:invertIfNegative val="0"/>
          <c:dPt>
            <c:idx val="0"/>
            <c:invertIfNegative val="0"/>
            <c:bubble3D val="0"/>
            <c:extLst>
              <c:ext xmlns:c16="http://schemas.microsoft.com/office/drawing/2014/chart" uri="{C3380CC4-5D6E-409C-BE32-E72D297353CC}">
                <c16:uniqueId val="{00000001-549B-4B41-A436-336F49C6403F}"/>
              </c:ext>
            </c:extLst>
          </c:dPt>
          <c:dPt>
            <c:idx val="1"/>
            <c:invertIfNegative val="0"/>
            <c:bubble3D val="0"/>
            <c:spPr>
              <a:solidFill>
                <a:srgbClr val="A78BFA"/>
              </a:solidFill>
              <a:effectLst/>
            </c:spPr>
            <c:extLst>
              <c:ext xmlns:c16="http://schemas.microsoft.com/office/drawing/2014/chart" uri="{C3380CC4-5D6E-409C-BE32-E72D297353CC}">
                <c16:uniqueId val="{00000003-549B-4B41-A436-336F49C6403F}"/>
              </c:ext>
            </c:extLst>
          </c:dPt>
          <c:dPt>
            <c:idx val="2"/>
            <c:invertIfNegative val="0"/>
            <c:bubble3D val="0"/>
            <c:spPr>
              <a:solidFill>
                <a:srgbClr val="FBBF24"/>
              </a:solidFill>
              <a:effectLst/>
            </c:spPr>
            <c:extLst>
              <c:ext xmlns:c16="http://schemas.microsoft.com/office/drawing/2014/chart" uri="{C3380CC4-5D6E-409C-BE32-E72D297353CC}">
                <c16:uniqueId val="{00000005-549B-4B41-A436-336F49C6403F}"/>
              </c:ext>
            </c:extLst>
          </c:dPt>
          <c:dLbls>
            <c:numFmt formatCode="#,##0" sourceLinked="0"/>
            <c:spPr>
              <a:noFill/>
              <a:ln>
                <a:noFill/>
              </a:ln>
              <a:effectLst/>
            </c:spPr>
            <c:txPr>
              <a:bodyPr/>
              <a:lstStyle/>
              <a:p>
                <a:pPr>
                  <a:defRPr sz="1100" b="0" i="0" u="none" strike="noStrike">
                    <a:solidFill>
                      <a:srgbClr val="E5E7E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 Normal</c:v>
                </c:pt>
                <c:pt idx="1">
                  <c:v>B: Dynamic SDN</c:v>
                </c:pt>
                <c:pt idx="2">
                  <c:v>C: Link failure</c:v>
                </c:pt>
              </c:strCache>
            </c:strRef>
          </c:cat>
          <c:val>
            <c:numRef>
              <c:f>Sheet1!$B$2:$B$4</c:f>
              <c:numCache>
                <c:formatCode>General</c:formatCode>
                <c:ptCount val="3"/>
                <c:pt idx="0">
                  <c:v>850.3</c:v>
                </c:pt>
                <c:pt idx="1">
                  <c:v>842.7</c:v>
                </c:pt>
                <c:pt idx="2">
                  <c:v>612.5</c:v>
                </c:pt>
              </c:numCache>
            </c:numRef>
          </c:val>
          <c:extLst>
            <c:ext xmlns:c16="http://schemas.microsoft.com/office/drawing/2014/chart" uri="{C3380CC4-5D6E-409C-BE32-E72D297353CC}">
              <c16:uniqueId val="{00000006-549B-4B41-A436-336F49C6403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E5E7EB"/>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263247"/>
              </a:solidFill>
              <a:prstDash val="solid"/>
              <a:round/>
            </a:ln>
          </c:spPr>
        </c:majorGridlines>
        <c:title>
          <c:tx>
            <c:rich>
              <a:bodyPr/>
              <a:lstStyle/>
              <a:p>
                <a:pPr>
                  <a:defRPr sz="1000" b="0" i="0" u="none" strike="noStrike">
                    <a:solidFill>
                      <a:srgbClr val="94A3B8"/>
                    </a:solidFill>
                    <a:latin typeface="Arial"/>
                  </a:defRPr>
                </a:pPr>
                <a:r>
                  <a:rPr lang="en-IN" sz="1000" b="0" i="0" u="none" strike="noStrike">
                    <a:solidFill>
                      <a:srgbClr val="94A3B8"/>
                    </a:solidFill>
                    <a:latin typeface="Arial"/>
                  </a:rPr>
                  <a:t>KB/s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954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in one sentence: a TCP-based backup application running over an SDN where a Ryu controller computes paths with Dijkstra and reroutes on link failure. Rubric: sets up A (problem/architecture).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A and D. Solid cyan lines are the data plane carrying TCP. Dashed violet lines are the OpenFlow control plane. Point out the controller never touches file data. The Flask dashboard is a monitoring layer, not part of the transfer path.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A. Walk left to right: each problem maps to one mechanism. Stress that the system tolerates three failure types: corruption, interrupted transfer, and network link failure, each handled at a different layer.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B. Walk the sequence top to bottom. Key viva point: a TCP ACK only means bytes reached the peer's kernel buffer. Our application ACK means the chunk passed CRC32 and was stored. We did not retrieve the source files, so open client.py and server.py and show the actual socket calls live.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A6660-19E1-28F1-0CE1-48BD4244DA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0A64FE-6A41-A0FD-38A5-5A0CCA7BEF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1BDA2-CB42-C73A-0EA9-D73662EDB692}"/>
              </a:ext>
            </a:extLst>
          </p:cNvPr>
          <p:cNvSpPr>
            <a:spLocks noGrp="1"/>
          </p:cNvSpPr>
          <p:nvPr>
            <p:ph type="body" idx="1"/>
          </p:nvPr>
        </p:nvSpPr>
        <p:spPr/>
        <p:txBody>
          <a:bodyPr/>
          <a:lstStyle/>
          <a:p>
            <a:r>
              <a:rPr lang="en-US" dirty="0"/>
              <a:t>Rubric B. Walk the sequence top to bottom. Key viva point: a TCP ACK only means bytes reached the peer's kernel buffer. Our application ACK means the chunk passed CRC32 and was stored. We did not retrieve the source files, so open client.py and server.py and show the actual socket calls live.</a:t>
            </a:r>
          </a:p>
        </p:txBody>
      </p:sp>
      <p:sp>
        <p:nvSpPr>
          <p:cNvPr id="4" name="Slide Number Placeholder 3">
            <a:extLst>
              <a:ext uri="{FF2B5EF4-FFF2-40B4-BE49-F238E27FC236}">
                <a16:creationId xmlns:a16="http://schemas.microsoft.com/office/drawing/2014/main" id="{702F763A-EB26-A1B5-B899-A3BE057A7C95}"/>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064999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B and F. Explain the 21-byte header, then the pipeline. State clearly that CRC32 catches accidental errors only. Persistence works because server hosts bind-mount /tmp/backup to stored_files on the host disk.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AFEAE-2B57-5EED-F9D3-7CBC7A5A2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AAD50-DB17-B2CD-4E71-80735DDE9F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17D163-5287-BDED-6346-278E16C2F157}"/>
              </a:ext>
            </a:extLst>
          </p:cNvPr>
          <p:cNvSpPr>
            <a:spLocks noGrp="1"/>
          </p:cNvSpPr>
          <p:nvPr>
            <p:ph type="body" idx="1"/>
          </p:nvPr>
        </p:nvSpPr>
        <p:spPr/>
        <p:txBody>
          <a:bodyPr/>
          <a:lstStyle/>
          <a:p>
            <a:r>
              <a:rPr lang="en-US" dirty="0"/>
              <a:t>Rubric B and F. Explain the 21-byte header, then the pipeline. State clearly that CRC32 catches accidental errors only. Persistence works because server hosts bind-mount /tmp/backup to stored_files on the host disk.</a:t>
            </a:r>
          </a:p>
        </p:txBody>
      </p:sp>
      <p:sp>
        <p:nvSpPr>
          <p:cNvPr id="4" name="Slide Number Placeholder 3">
            <a:extLst>
              <a:ext uri="{FF2B5EF4-FFF2-40B4-BE49-F238E27FC236}">
                <a16:creationId xmlns:a16="http://schemas.microsoft.com/office/drawing/2014/main" id="{CC8FD734-88DC-59E8-2E3C-D8E9364E0192}"/>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03977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C. The topology is the one from the repo: four OVS switches in a full mesh, so six switch-to-switch links, and four hosts. Verify connectivity with pingall, and show flows with ovs-ofctl dump-flows.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G, the highest-weighted. Explain Dijkstra briefly, then the event chain. Be honest: unit tests prove the graph logic, and the live behaviour must be shown with controller logs and dump-flows. Which equal-cost alternate path is chosen depends on the code, so check the log.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D. Key message: the controller and the application never talk to each other. They interact only through the network: the controller keeps the path alive, TCP and the app protocol deal with whatever the transfer experiences. Do not claim the controller resumes transfers.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H. Use before/during/after, then be precise on the four outcomes. The docs credit TCP retransmission for survival of the connection, but the README also says the transfer resumes. Check the client log to see whether RESUME actually fired. They are different achievements.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41A0B-901E-C547-0FD8-A3CB99A38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CF23C-37CE-CDC4-5308-AF41192DC6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679705-E9F4-FDCA-4EE0-9E50AB1B767D}"/>
              </a:ext>
            </a:extLst>
          </p:cNvPr>
          <p:cNvSpPr>
            <a:spLocks noGrp="1"/>
          </p:cNvSpPr>
          <p:nvPr>
            <p:ph type="body" idx="1"/>
          </p:nvPr>
        </p:nvSpPr>
        <p:spPr/>
        <p:txBody>
          <a:bodyPr/>
          <a:lstStyle/>
          <a:p>
            <a:r>
              <a:rPr lang="en-US" dirty="0"/>
              <a:t>Rubric H. Use before/during/after, then be precise on the four outcomes. The docs credit TCP retransmission for survival of the connection, but the README also says the transfer resumes. Check the client log to see whether RESUME actually fired. They are different achievements.</a:t>
            </a:r>
          </a:p>
        </p:txBody>
      </p:sp>
      <p:sp>
        <p:nvSpPr>
          <p:cNvPr id="4" name="Slide Number Placeholder 3">
            <a:extLst>
              <a:ext uri="{FF2B5EF4-FFF2-40B4-BE49-F238E27FC236}">
                <a16:creationId xmlns:a16="http://schemas.microsoft.com/office/drawing/2014/main" id="{229FC281-E71F-012E-F061-1E603016D2D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2138585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I. All numbers come from docs/results.md; none are ours to invent. Failure case is about 28 percent slower than normal (612.5 vs 850.3). The static baseline is reported only as fails-after-link-down, so there is no throughput for it. Missing: larger files, packet-loss percentage, a measured static run. State this openly.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E and F. Run pytest on the VM before the demo and replace PENDING with the real result. Capture screenshots: pytest output, pingall, dump-flows before and after link-down, the dashboard, and sha256sum of source versus stored file. Note that the SDN unit tests check graph logic, not a live network.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J. Keep it evidence-based. Strongest result: reported 1.3 s recovery with 128/128 chunks after a link failure. Be upfront that several claims need the source or logs to confirm.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766560" y="640080"/>
            <a:ext cx="1280160" cy="457200"/>
          </a:xfrm>
          <a:prstGeom prst="line">
            <a:avLst/>
          </a:prstGeom>
          <a:noFill/>
          <a:ln w="12700">
            <a:solidFill>
              <a:srgbClr val="475569"/>
            </a:solidFill>
            <a:prstDash val="solid"/>
          </a:ln>
        </p:spPr>
      </p:sp>
      <p:sp>
        <p:nvSpPr>
          <p:cNvPr id="3" name="Shape 1"/>
          <p:cNvSpPr/>
          <p:nvPr/>
        </p:nvSpPr>
        <p:spPr>
          <a:xfrm flipH="1">
            <a:off x="7498080" y="1097280"/>
            <a:ext cx="548640" cy="1005840"/>
          </a:xfrm>
          <a:prstGeom prst="line">
            <a:avLst/>
          </a:prstGeom>
          <a:noFill/>
          <a:ln w="12700">
            <a:solidFill>
              <a:srgbClr val="475569"/>
            </a:solidFill>
            <a:prstDash val="solid"/>
          </a:ln>
        </p:spPr>
      </p:sp>
      <p:sp>
        <p:nvSpPr>
          <p:cNvPr id="4" name="Shape 2"/>
          <p:cNvSpPr/>
          <p:nvPr/>
        </p:nvSpPr>
        <p:spPr>
          <a:xfrm flipH="1" flipV="1">
            <a:off x="6400800" y="1645920"/>
            <a:ext cx="1097280" cy="457200"/>
          </a:xfrm>
          <a:prstGeom prst="line">
            <a:avLst/>
          </a:prstGeom>
          <a:noFill/>
          <a:ln w="12700">
            <a:solidFill>
              <a:srgbClr val="475569"/>
            </a:solidFill>
            <a:prstDash val="solid"/>
          </a:ln>
        </p:spPr>
      </p:sp>
      <p:sp>
        <p:nvSpPr>
          <p:cNvPr id="5" name="Shape 3"/>
          <p:cNvSpPr/>
          <p:nvPr/>
        </p:nvSpPr>
        <p:spPr>
          <a:xfrm flipV="1">
            <a:off x="6400800" y="640080"/>
            <a:ext cx="365760" cy="1005840"/>
          </a:xfrm>
          <a:prstGeom prst="line">
            <a:avLst/>
          </a:prstGeom>
          <a:noFill/>
          <a:ln w="12700">
            <a:solidFill>
              <a:srgbClr val="475569"/>
            </a:solidFill>
            <a:prstDash val="solid"/>
          </a:ln>
        </p:spPr>
      </p:sp>
      <p:sp>
        <p:nvSpPr>
          <p:cNvPr id="6" name="Shape 4"/>
          <p:cNvSpPr/>
          <p:nvPr/>
        </p:nvSpPr>
        <p:spPr>
          <a:xfrm>
            <a:off x="6766560" y="640080"/>
            <a:ext cx="731520" cy="1463040"/>
          </a:xfrm>
          <a:prstGeom prst="line">
            <a:avLst/>
          </a:prstGeom>
          <a:noFill/>
          <a:ln w="12700">
            <a:solidFill>
              <a:srgbClr val="475569"/>
            </a:solidFill>
            <a:prstDash val="solid"/>
          </a:ln>
        </p:spPr>
      </p:sp>
      <p:sp>
        <p:nvSpPr>
          <p:cNvPr id="7" name="Shape 5"/>
          <p:cNvSpPr/>
          <p:nvPr/>
        </p:nvSpPr>
        <p:spPr>
          <a:xfrm flipH="1">
            <a:off x="6400800" y="1097280"/>
            <a:ext cx="1645920" cy="548640"/>
          </a:xfrm>
          <a:prstGeom prst="line">
            <a:avLst/>
          </a:prstGeom>
          <a:noFill/>
          <a:ln w="12700">
            <a:solidFill>
              <a:srgbClr val="475569"/>
            </a:solidFill>
            <a:prstDash val="solid"/>
          </a:ln>
        </p:spPr>
      </p:sp>
      <p:sp>
        <p:nvSpPr>
          <p:cNvPr id="8" name="Shape 6"/>
          <p:cNvSpPr/>
          <p:nvPr/>
        </p:nvSpPr>
        <p:spPr>
          <a:xfrm>
            <a:off x="6638544" y="512064"/>
            <a:ext cx="256032" cy="256032"/>
          </a:xfrm>
          <a:prstGeom prst="ellipse">
            <a:avLst/>
          </a:prstGeom>
          <a:solidFill>
            <a:srgbClr val="131C2E"/>
          </a:solidFill>
          <a:ln w="25400">
            <a:solidFill>
              <a:srgbClr val="22D3EE"/>
            </a:solidFill>
            <a:prstDash val="solid"/>
          </a:ln>
        </p:spPr>
      </p:sp>
      <p:sp>
        <p:nvSpPr>
          <p:cNvPr id="9" name="Shape 7"/>
          <p:cNvSpPr/>
          <p:nvPr/>
        </p:nvSpPr>
        <p:spPr>
          <a:xfrm>
            <a:off x="7918704" y="969264"/>
            <a:ext cx="256032" cy="256032"/>
          </a:xfrm>
          <a:prstGeom prst="ellipse">
            <a:avLst/>
          </a:prstGeom>
          <a:solidFill>
            <a:srgbClr val="131C2E"/>
          </a:solidFill>
          <a:ln w="25400">
            <a:solidFill>
              <a:srgbClr val="A78BFA"/>
            </a:solidFill>
            <a:prstDash val="solid"/>
          </a:ln>
        </p:spPr>
      </p:sp>
      <p:sp>
        <p:nvSpPr>
          <p:cNvPr id="10" name="Shape 8"/>
          <p:cNvSpPr/>
          <p:nvPr/>
        </p:nvSpPr>
        <p:spPr>
          <a:xfrm>
            <a:off x="7370064" y="1975104"/>
            <a:ext cx="256032" cy="256032"/>
          </a:xfrm>
          <a:prstGeom prst="ellipse">
            <a:avLst/>
          </a:prstGeom>
          <a:solidFill>
            <a:srgbClr val="131C2E"/>
          </a:solidFill>
          <a:ln w="25400">
            <a:solidFill>
              <a:srgbClr val="22D3EE"/>
            </a:solidFill>
            <a:prstDash val="solid"/>
          </a:ln>
        </p:spPr>
      </p:sp>
      <p:sp>
        <p:nvSpPr>
          <p:cNvPr id="11" name="Shape 9"/>
          <p:cNvSpPr/>
          <p:nvPr/>
        </p:nvSpPr>
        <p:spPr>
          <a:xfrm>
            <a:off x="6272784" y="1517904"/>
            <a:ext cx="256032" cy="256032"/>
          </a:xfrm>
          <a:prstGeom prst="ellipse">
            <a:avLst/>
          </a:prstGeom>
          <a:solidFill>
            <a:srgbClr val="131C2E"/>
          </a:solidFill>
          <a:ln w="25400">
            <a:solidFill>
              <a:srgbClr val="A78BFA"/>
            </a:solidFill>
            <a:prstDash val="solid"/>
          </a:ln>
        </p:spPr>
      </p:sp>
      <p:sp>
        <p:nvSpPr>
          <p:cNvPr id="12" name="Text 10"/>
          <p:cNvSpPr txBox="1"/>
          <p:nvPr/>
        </p:nvSpPr>
        <p:spPr>
          <a:xfrm>
            <a:off x="548640" y="914400"/>
            <a:ext cx="5486400" cy="274320"/>
          </a:xfrm>
          <a:prstGeom prst="rect">
            <a:avLst/>
          </a:prstGeom>
          <a:noFill/>
          <a:ln/>
        </p:spPr>
        <p:txBody>
          <a:bodyPr wrap="square" lIns="0" tIns="0" rIns="0" bIns="0" rtlCol="0" anchor="t"/>
          <a:lstStyle/>
          <a:p>
            <a:pPr marL="0" indent="0">
              <a:buNone/>
            </a:pPr>
            <a:r>
              <a:rPr lang="en-US" sz="1300" b="1" kern="0" spc="300" dirty="0">
                <a:solidFill>
                  <a:srgbClr val="22D3EE"/>
                </a:solidFill>
                <a:latin typeface="Calibri" pitchFamily="34" charset="0"/>
                <a:ea typeface="Calibri" pitchFamily="34" charset="-122"/>
                <a:cs typeface="Calibri" pitchFamily="34" charset="-120"/>
              </a:rPr>
              <a:t>COMPUTER NETWORKS MINI-PROJECT</a:t>
            </a:r>
            <a:endParaRPr lang="en-US" sz="1300" dirty="0"/>
          </a:p>
        </p:txBody>
      </p:sp>
      <p:sp>
        <p:nvSpPr>
          <p:cNvPr id="13" name="Text 11"/>
          <p:cNvSpPr txBox="1"/>
          <p:nvPr/>
        </p:nvSpPr>
        <p:spPr>
          <a:xfrm>
            <a:off x="548640" y="1371600"/>
            <a:ext cx="5760720" cy="1371600"/>
          </a:xfrm>
          <a:prstGeom prst="rect">
            <a:avLst/>
          </a:prstGeom>
          <a:noFill/>
          <a:ln/>
        </p:spPr>
        <p:txBody>
          <a:bodyPr wrap="square" lIns="0" tIns="0" rIns="0" bIns="0" rtlCol="0" anchor="t"/>
          <a:lstStyle/>
          <a:p>
            <a:pPr marL="0" indent="0">
              <a:buNone/>
            </a:pPr>
            <a:r>
              <a:rPr lang="en-US" sz="3400" b="1" dirty="0">
                <a:solidFill>
                  <a:srgbClr val="E5E7EB"/>
                </a:solidFill>
                <a:latin typeface="Calibri" pitchFamily="34" charset="0"/>
                <a:ea typeface="Calibri" pitchFamily="34" charset="-122"/>
                <a:cs typeface="Calibri" pitchFamily="34" charset="-120"/>
              </a:rPr>
              <a:t>Distributed Backup System Using TCP Socket Programming and SDN</a:t>
            </a:r>
            <a:endParaRPr lang="en-US" sz="3400" dirty="0"/>
          </a:p>
        </p:txBody>
      </p:sp>
      <p:sp>
        <p:nvSpPr>
          <p:cNvPr id="14" name="Text 12"/>
          <p:cNvSpPr txBox="1"/>
          <p:nvPr/>
        </p:nvSpPr>
        <p:spPr>
          <a:xfrm>
            <a:off x="548640" y="2834640"/>
            <a:ext cx="5486400" cy="548640"/>
          </a:xfrm>
          <a:prstGeom prst="rect">
            <a:avLst/>
          </a:prstGeom>
          <a:noFill/>
          <a:ln/>
        </p:spPr>
        <p:txBody>
          <a:bodyPr wrap="square" lIns="0" tIns="0" rIns="0" bIns="0" rtlCol="0" anchor="t"/>
          <a:lstStyle/>
          <a:p>
            <a:pPr marL="0" indent="0">
              <a:buNone/>
            </a:pPr>
            <a:r>
              <a:rPr lang="en-US" sz="1500" dirty="0">
                <a:solidFill>
                  <a:srgbClr val="94A3B8"/>
                </a:solidFill>
                <a:latin typeface="Calibri" pitchFamily="34" charset="0"/>
                <a:ea typeface="Calibri" pitchFamily="34" charset="-122"/>
                <a:cs typeface="Calibri" pitchFamily="34" charset="-120"/>
              </a:rPr>
              <a:t>Reliable file backup over a Mininet network controlled by a Ryu OpenFlow controller</a:t>
            </a:r>
            <a:endParaRPr lang="en-US" sz="1500" dirty="0"/>
          </a:p>
        </p:txBody>
      </p:sp>
      <p:sp>
        <p:nvSpPr>
          <p:cNvPr id="15" name="Text 13"/>
          <p:cNvSpPr txBox="1"/>
          <p:nvPr/>
        </p:nvSpPr>
        <p:spPr>
          <a:xfrm>
            <a:off x="548640" y="3749040"/>
            <a:ext cx="5486400" cy="731520"/>
          </a:xfrm>
          <a:prstGeom prst="rect">
            <a:avLst/>
          </a:prstGeom>
          <a:noFill/>
          <a:ln/>
        </p:spPr>
        <p:txBody>
          <a:bodyPr wrap="square" lIns="0" tIns="0" rIns="0" bIns="0" rtlCol="0" anchor="t"/>
          <a:lstStyle/>
          <a:p>
            <a:pPr marL="0" indent="0">
              <a:buNone/>
            </a:pPr>
            <a:r>
              <a:rPr lang="en-US" sz="1600" b="1" dirty="0">
                <a:solidFill>
                  <a:srgbClr val="A78BFA"/>
                </a:solidFill>
                <a:latin typeface="Calibri" pitchFamily="34" charset="0"/>
                <a:ea typeface="Calibri" pitchFamily="34" charset="-122"/>
                <a:cs typeface="Calibri" pitchFamily="34" charset="-120"/>
              </a:rPr>
              <a:t>Anubhav  ·  Arush  ·  Aryan</a:t>
            </a:r>
            <a:endParaRPr lang="en-US" sz="1600" dirty="0"/>
          </a:p>
          <a:p>
            <a:pPr marL="0" indent="0">
              <a:buNone/>
            </a:pPr>
            <a:r>
              <a:rPr lang="en-US" sz="1400" dirty="0">
                <a:solidFill>
                  <a:srgbClr val="E5E7EB"/>
                </a:solidFill>
                <a:latin typeface="Calibri" pitchFamily="34" charset="0"/>
                <a:ea typeface="Calibri" pitchFamily="34" charset="-122"/>
                <a:cs typeface="Calibri" pitchFamily="34" charset="-120"/>
              </a:rPr>
              <a:t>PES University  ·  Computer Networks</a:t>
            </a:r>
            <a:endParaRPr lang="en-US" sz="1600" dirty="0"/>
          </a:p>
        </p:txBody>
      </p:sp>
      <p:sp>
        <p:nvSpPr>
          <p:cNvPr id="16" name="Text 14"/>
          <p:cNvSpPr txBox="1"/>
          <p:nvPr/>
        </p:nvSpPr>
        <p:spPr>
          <a:xfrm>
            <a:off x="548640" y="4663440"/>
            <a:ext cx="5486400" cy="228600"/>
          </a:xfrm>
          <a:prstGeom prst="rect">
            <a:avLst/>
          </a:prstGeom>
          <a:noFill/>
          <a:ln/>
        </p:spPr>
        <p:txBody>
          <a:bodyPr wrap="square" lIns="0" tIns="0" rIns="0" bIns="0" rtlCol="0" anchor="t"/>
          <a:lstStyle/>
          <a:p>
            <a:pPr marL="0" indent="0">
              <a:buNone/>
            </a:pPr>
            <a:r>
              <a:rPr lang="en-US" sz="1000" dirty="0">
                <a:solidFill>
                  <a:srgbClr val="94A3B8"/>
                </a:solidFill>
                <a:latin typeface="Courier New" pitchFamily="34" charset="0"/>
                <a:ea typeface="Courier New" pitchFamily="34" charset="-122"/>
                <a:cs typeface="Courier New" pitchFamily="34" charset="-120"/>
              </a:rPr>
              <a:t>github.com/acrticsludge/CN-Mini</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02920"/>
          </a:xfrm>
          <a:prstGeom prst="rect">
            <a:avLst/>
          </a:prstGeom>
          <a:noFill/>
          <a:ln/>
        </p:spPr>
        <p:txBody>
          <a:bodyPr wrap="square" lIns="0" tIns="0" rIns="0" bIns="0" rtlCol="0" anchor="ctr"/>
          <a:lstStyle/>
          <a:p>
            <a:pPr marL="0" indent="0">
              <a:buNone/>
            </a:pPr>
            <a:r>
              <a:rPr lang="en-US" sz="2600" b="1" dirty="0">
                <a:solidFill>
                  <a:srgbClr val="E5E7EB"/>
                </a:solidFill>
                <a:latin typeface="Calibri" pitchFamily="34" charset="0"/>
                <a:ea typeface="Calibri" pitchFamily="34" charset="-122"/>
                <a:cs typeface="Calibri" pitchFamily="34" charset="-120"/>
              </a:rPr>
              <a:t>Overall System Architecture</a:t>
            </a:r>
            <a:endParaRPr lang="en-US" sz="2600" dirty="0"/>
          </a:p>
        </p:txBody>
      </p:sp>
      <p:sp>
        <p:nvSpPr>
          <p:cNvPr id="3" name="Text 1"/>
          <p:cNvSpPr txBox="1"/>
          <p:nvPr/>
        </p:nvSpPr>
        <p:spPr>
          <a:xfrm>
            <a:off x="457200" y="4800600"/>
            <a:ext cx="8229600" cy="22860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Source: docs/architecture.md (host-to-switch attachment read from its diagram)  ·  Evidence: documented</a:t>
            </a:r>
            <a:endParaRPr lang="en-US" sz="1000" dirty="0"/>
          </a:p>
        </p:txBody>
      </p:sp>
      <p:sp>
        <p:nvSpPr>
          <p:cNvPr id="5" name="Shape 2"/>
          <p:cNvSpPr/>
          <p:nvPr/>
        </p:nvSpPr>
        <p:spPr>
          <a:xfrm>
            <a:off x="1828800" y="2331720"/>
            <a:ext cx="2377440" cy="0"/>
          </a:xfrm>
          <a:prstGeom prst="line">
            <a:avLst/>
          </a:prstGeom>
          <a:noFill/>
          <a:ln w="25400">
            <a:solidFill>
              <a:srgbClr val="22D3EE"/>
            </a:solidFill>
            <a:prstDash val="solid"/>
          </a:ln>
        </p:spPr>
      </p:sp>
      <p:sp>
        <p:nvSpPr>
          <p:cNvPr id="6" name="Shape 3"/>
          <p:cNvSpPr/>
          <p:nvPr/>
        </p:nvSpPr>
        <p:spPr>
          <a:xfrm>
            <a:off x="1828800" y="3886200"/>
            <a:ext cx="2377440" cy="0"/>
          </a:xfrm>
          <a:prstGeom prst="line">
            <a:avLst/>
          </a:prstGeom>
          <a:noFill/>
          <a:ln w="25400">
            <a:solidFill>
              <a:srgbClr val="22D3EE"/>
            </a:solidFill>
            <a:prstDash val="solid"/>
          </a:ln>
        </p:spPr>
      </p:sp>
      <p:sp>
        <p:nvSpPr>
          <p:cNvPr id="7" name="Shape 4"/>
          <p:cNvSpPr/>
          <p:nvPr/>
        </p:nvSpPr>
        <p:spPr>
          <a:xfrm>
            <a:off x="1828800" y="2331720"/>
            <a:ext cx="0" cy="1554480"/>
          </a:xfrm>
          <a:prstGeom prst="line">
            <a:avLst/>
          </a:prstGeom>
          <a:noFill/>
          <a:ln w="25400">
            <a:solidFill>
              <a:srgbClr val="22D3EE"/>
            </a:solidFill>
            <a:prstDash val="solid"/>
          </a:ln>
        </p:spPr>
      </p:sp>
      <p:sp>
        <p:nvSpPr>
          <p:cNvPr id="8" name="Shape 5"/>
          <p:cNvSpPr/>
          <p:nvPr/>
        </p:nvSpPr>
        <p:spPr>
          <a:xfrm>
            <a:off x="4206240" y="2331720"/>
            <a:ext cx="0" cy="1554480"/>
          </a:xfrm>
          <a:prstGeom prst="line">
            <a:avLst/>
          </a:prstGeom>
          <a:noFill/>
          <a:ln w="25400">
            <a:solidFill>
              <a:srgbClr val="22D3EE"/>
            </a:solidFill>
            <a:prstDash val="solid"/>
          </a:ln>
        </p:spPr>
      </p:sp>
      <p:sp>
        <p:nvSpPr>
          <p:cNvPr id="9" name="Shape 6"/>
          <p:cNvSpPr/>
          <p:nvPr/>
        </p:nvSpPr>
        <p:spPr>
          <a:xfrm>
            <a:off x="1828800" y="2331720"/>
            <a:ext cx="2377440" cy="1554480"/>
          </a:xfrm>
          <a:prstGeom prst="line">
            <a:avLst/>
          </a:prstGeom>
          <a:noFill/>
          <a:ln w="25400">
            <a:solidFill>
              <a:srgbClr val="22D3EE"/>
            </a:solidFill>
            <a:prstDash val="solid"/>
          </a:ln>
        </p:spPr>
      </p:sp>
      <p:sp>
        <p:nvSpPr>
          <p:cNvPr id="10" name="Shape 7"/>
          <p:cNvSpPr/>
          <p:nvPr/>
        </p:nvSpPr>
        <p:spPr>
          <a:xfrm flipH="1">
            <a:off x="1828800" y="2331720"/>
            <a:ext cx="2377440" cy="1554480"/>
          </a:xfrm>
          <a:prstGeom prst="line">
            <a:avLst/>
          </a:prstGeom>
          <a:noFill/>
          <a:ln w="25400">
            <a:solidFill>
              <a:srgbClr val="22D3EE"/>
            </a:solidFill>
            <a:prstDash val="solid"/>
          </a:ln>
        </p:spPr>
      </p:sp>
      <p:sp>
        <p:nvSpPr>
          <p:cNvPr id="11" name="Shape 8"/>
          <p:cNvSpPr/>
          <p:nvPr/>
        </p:nvSpPr>
        <p:spPr>
          <a:xfrm>
            <a:off x="731520" y="2331720"/>
            <a:ext cx="1097280" cy="0"/>
          </a:xfrm>
          <a:prstGeom prst="line">
            <a:avLst/>
          </a:prstGeom>
          <a:noFill/>
          <a:ln w="25400">
            <a:solidFill>
              <a:srgbClr val="22D3EE"/>
            </a:solidFill>
            <a:prstDash val="solid"/>
          </a:ln>
        </p:spPr>
      </p:sp>
      <p:sp>
        <p:nvSpPr>
          <p:cNvPr id="12" name="Shape 9"/>
          <p:cNvSpPr/>
          <p:nvPr/>
        </p:nvSpPr>
        <p:spPr>
          <a:xfrm flipH="1">
            <a:off x="4206240" y="2331720"/>
            <a:ext cx="1097280" cy="0"/>
          </a:xfrm>
          <a:prstGeom prst="line">
            <a:avLst/>
          </a:prstGeom>
          <a:noFill/>
          <a:ln w="25400">
            <a:solidFill>
              <a:srgbClr val="22D3EE"/>
            </a:solidFill>
            <a:prstDash val="solid"/>
          </a:ln>
        </p:spPr>
      </p:sp>
      <p:sp>
        <p:nvSpPr>
          <p:cNvPr id="13" name="Shape 10"/>
          <p:cNvSpPr/>
          <p:nvPr/>
        </p:nvSpPr>
        <p:spPr>
          <a:xfrm>
            <a:off x="731520" y="3886200"/>
            <a:ext cx="1097280" cy="0"/>
          </a:xfrm>
          <a:prstGeom prst="line">
            <a:avLst/>
          </a:prstGeom>
          <a:noFill/>
          <a:ln w="25400">
            <a:solidFill>
              <a:srgbClr val="22D3EE"/>
            </a:solidFill>
            <a:prstDash val="solid"/>
          </a:ln>
        </p:spPr>
      </p:sp>
      <p:sp>
        <p:nvSpPr>
          <p:cNvPr id="14" name="Shape 11"/>
          <p:cNvSpPr/>
          <p:nvPr/>
        </p:nvSpPr>
        <p:spPr>
          <a:xfrm flipH="1">
            <a:off x="4206240" y="3886200"/>
            <a:ext cx="1097280" cy="0"/>
          </a:xfrm>
          <a:prstGeom prst="line">
            <a:avLst/>
          </a:prstGeom>
          <a:noFill/>
          <a:ln w="25400">
            <a:solidFill>
              <a:srgbClr val="22D3EE"/>
            </a:solidFill>
            <a:prstDash val="solid"/>
          </a:ln>
        </p:spPr>
      </p:sp>
      <p:sp>
        <p:nvSpPr>
          <p:cNvPr id="15" name="Shape 12"/>
          <p:cNvSpPr/>
          <p:nvPr/>
        </p:nvSpPr>
        <p:spPr>
          <a:xfrm flipH="1">
            <a:off x="1828800" y="1143000"/>
            <a:ext cx="1280160" cy="1188720"/>
          </a:xfrm>
          <a:prstGeom prst="line">
            <a:avLst/>
          </a:prstGeom>
          <a:noFill/>
          <a:ln w="19050">
            <a:solidFill>
              <a:srgbClr val="A78BFA"/>
            </a:solidFill>
            <a:prstDash val="dash"/>
          </a:ln>
        </p:spPr>
      </p:sp>
      <p:sp>
        <p:nvSpPr>
          <p:cNvPr id="16" name="Shape 13"/>
          <p:cNvSpPr/>
          <p:nvPr/>
        </p:nvSpPr>
        <p:spPr>
          <a:xfrm>
            <a:off x="3108960" y="1143000"/>
            <a:ext cx="1097280" cy="1188720"/>
          </a:xfrm>
          <a:prstGeom prst="line">
            <a:avLst/>
          </a:prstGeom>
          <a:noFill/>
          <a:ln w="19050">
            <a:solidFill>
              <a:srgbClr val="A78BFA"/>
            </a:solidFill>
            <a:prstDash val="dash"/>
          </a:ln>
        </p:spPr>
      </p:sp>
      <p:sp>
        <p:nvSpPr>
          <p:cNvPr id="17" name="Shape 14"/>
          <p:cNvSpPr/>
          <p:nvPr/>
        </p:nvSpPr>
        <p:spPr>
          <a:xfrm flipH="1">
            <a:off x="1828800" y="1143000"/>
            <a:ext cx="1280160" cy="2743200"/>
          </a:xfrm>
          <a:prstGeom prst="line">
            <a:avLst/>
          </a:prstGeom>
          <a:noFill/>
          <a:ln w="19050">
            <a:solidFill>
              <a:srgbClr val="A78BFA"/>
            </a:solidFill>
            <a:prstDash val="dash"/>
          </a:ln>
        </p:spPr>
      </p:sp>
      <p:sp>
        <p:nvSpPr>
          <p:cNvPr id="18" name="Shape 15"/>
          <p:cNvSpPr/>
          <p:nvPr/>
        </p:nvSpPr>
        <p:spPr>
          <a:xfrm>
            <a:off x="3108960" y="1143000"/>
            <a:ext cx="1097280" cy="2743200"/>
          </a:xfrm>
          <a:prstGeom prst="line">
            <a:avLst/>
          </a:prstGeom>
          <a:noFill/>
          <a:ln w="19050">
            <a:solidFill>
              <a:srgbClr val="A78BFA"/>
            </a:solidFill>
            <a:prstDash val="dash"/>
          </a:ln>
        </p:spPr>
      </p:sp>
      <p:sp>
        <p:nvSpPr>
          <p:cNvPr id="19" name="Shape 16"/>
          <p:cNvSpPr/>
          <p:nvPr/>
        </p:nvSpPr>
        <p:spPr>
          <a:xfrm>
            <a:off x="2011680" y="914400"/>
            <a:ext cx="2194560" cy="457200"/>
          </a:xfrm>
          <a:prstGeom prst="roundRect">
            <a:avLst>
              <a:gd name="adj" fmla="val 12000"/>
            </a:avLst>
          </a:prstGeom>
          <a:solidFill>
            <a:srgbClr val="131C2E"/>
          </a:solidFill>
          <a:ln w="19050">
            <a:solidFill>
              <a:srgbClr val="A78BFA"/>
            </a:solidFill>
            <a:prstDash val="solid"/>
          </a:ln>
        </p:spPr>
      </p:sp>
      <p:sp>
        <p:nvSpPr>
          <p:cNvPr id="20" name="Text 17"/>
          <p:cNvSpPr txBox="1"/>
          <p:nvPr/>
        </p:nvSpPr>
        <p:spPr>
          <a:xfrm>
            <a:off x="2011680" y="914400"/>
            <a:ext cx="2194560" cy="45720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Ryu controller (OpenFlow 1.3)</a:t>
            </a:r>
            <a:endParaRPr lang="en-US" sz="1100" dirty="0"/>
          </a:p>
        </p:txBody>
      </p:sp>
      <p:sp>
        <p:nvSpPr>
          <p:cNvPr id="21" name="Shape 18"/>
          <p:cNvSpPr/>
          <p:nvPr/>
        </p:nvSpPr>
        <p:spPr>
          <a:xfrm>
            <a:off x="1463040" y="2103120"/>
            <a:ext cx="731520" cy="457200"/>
          </a:xfrm>
          <a:prstGeom prst="roundRect">
            <a:avLst>
              <a:gd name="adj" fmla="val 12000"/>
            </a:avLst>
          </a:prstGeom>
          <a:solidFill>
            <a:srgbClr val="131C2E"/>
          </a:solidFill>
          <a:ln w="19050">
            <a:solidFill>
              <a:srgbClr val="22D3EE"/>
            </a:solidFill>
            <a:prstDash val="solid"/>
          </a:ln>
        </p:spPr>
      </p:sp>
      <p:sp>
        <p:nvSpPr>
          <p:cNvPr id="22" name="Text 19"/>
          <p:cNvSpPr txBox="1"/>
          <p:nvPr/>
        </p:nvSpPr>
        <p:spPr>
          <a:xfrm>
            <a:off x="1463040" y="2103120"/>
            <a:ext cx="731520" cy="457200"/>
          </a:xfrm>
          <a:prstGeom prst="rect">
            <a:avLst/>
          </a:prstGeom>
          <a:noFill/>
          <a:ln/>
        </p:spPr>
        <p:txBody>
          <a:bodyPr wrap="square" lIns="0" tIns="0" rIns="0" bIns="0" rtlCol="0" anchor="ctr"/>
          <a:lstStyle/>
          <a:p>
            <a:pPr marL="0" indent="0" algn="ctr">
              <a:buNone/>
            </a:pPr>
            <a:r>
              <a:rPr lang="en-US" sz="1200" b="1" dirty="0">
                <a:solidFill>
                  <a:srgbClr val="E5E7EB"/>
                </a:solidFill>
                <a:latin typeface="Calibri" pitchFamily="34" charset="0"/>
                <a:ea typeface="Calibri" pitchFamily="34" charset="-122"/>
                <a:cs typeface="Calibri" pitchFamily="34" charset="-120"/>
              </a:rPr>
              <a:t>s1</a:t>
            </a:r>
            <a:endParaRPr lang="en-US" sz="1200" dirty="0"/>
          </a:p>
        </p:txBody>
      </p:sp>
      <p:sp>
        <p:nvSpPr>
          <p:cNvPr id="23" name="Shape 20"/>
          <p:cNvSpPr/>
          <p:nvPr/>
        </p:nvSpPr>
        <p:spPr>
          <a:xfrm>
            <a:off x="3840480" y="2103120"/>
            <a:ext cx="731520" cy="457200"/>
          </a:xfrm>
          <a:prstGeom prst="roundRect">
            <a:avLst>
              <a:gd name="adj" fmla="val 12000"/>
            </a:avLst>
          </a:prstGeom>
          <a:solidFill>
            <a:srgbClr val="131C2E"/>
          </a:solidFill>
          <a:ln w="19050">
            <a:solidFill>
              <a:srgbClr val="22D3EE"/>
            </a:solidFill>
            <a:prstDash val="solid"/>
          </a:ln>
        </p:spPr>
      </p:sp>
      <p:sp>
        <p:nvSpPr>
          <p:cNvPr id="24" name="Text 21"/>
          <p:cNvSpPr txBox="1"/>
          <p:nvPr/>
        </p:nvSpPr>
        <p:spPr>
          <a:xfrm>
            <a:off x="3840480" y="2103120"/>
            <a:ext cx="731520" cy="457200"/>
          </a:xfrm>
          <a:prstGeom prst="rect">
            <a:avLst/>
          </a:prstGeom>
          <a:noFill/>
          <a:ln/>
        </p:spPr>
        <p:txBody>
          <a:bodyPr wrap="square" lIns="0" tIns="0" rIns="0" bIns="0" rtlCol="0" anchor="ctr"/>
          <a:lstStyle/>
          <a:p>
            <a:pPr marL="0" indent="0" algn="ctr">
              <a:buNone/>
            </a:pPr>
            <a:r>
              <a:rPr lang="en-US" sz="1200" b="1" dirty="0">
                <a:solidFill>
                  <a:srgbClr val="E5E7EB"/>
                </a:solidFill>
                <a:latin typeface="Calibri" pitchFamily="34" charset="0"/>
                <a:ea typeface="Calibri" pitchFamily="34" charset="-122"/>
                <a:cs typeface="Calibri" pitchFamily="34" charset="-120"/>
              </a:rPr>
              <a:t>s2</a:t>
            </a:r>
            <a:endParaRPr lang="en-US" sz="1200" dirty="0"/>
          </a:p>
        </p:txBody>
      </p:sp>
      <p:sp>
        <p:nvSpPr>
          <p:cNvPr id="25" name="Shape 22"/>
          <p:cNvSpPr/>
          <p:nvPr/>
        </p:nvSpPr>
        <p:spPr>
          <a:xfrm>
            <a:off x="1463040" y="3657600"/>
            <a:ext cx="731520" cy="457200"/>
          </a:xfrm>
          <a:prstGeom prst="roundRect">
            <a:avLst>
              <a:gd name="adj" fmla="val 12000"/>
            </a:avLst>
          </a:prstGeom>
          <a:solidFill>
            <a:srgbClr val="131C2E"/>
          </a:solidFill>
          <a:ln w="19050">
            <a:solidFill>
              <a:srgbClr val="22D3EE"/>
            </a:solidFill>
            <a:prstDash val="solid"/>
          </a:ln>
        </p:spPr>
      </p:sp>
      <p:sp>
        <p:nvSpPr>
          <p:cNvPr id="26" name="Text 23"/>
          <p:cNvSpPr txBox="1"/>
          <p:nvPr/>
        </p:nvSpPr>
        <p:spPr>
          <a:xfrm>
            <a:off x="1463040" y="3657600"/>
            <a:ext cx="731520" cy="457200"/>
          </a:xfrm>
          <a:prstGeom prst="rect">
            <a:avLst/>
          </a:prstGeom>
          <a:noFill/>
          <a:ln/>
        </p:spPr>
        <p:txBody>
          <a:bodyPr wrap="square" lIns="0" tIns="0" rIns="0" bIns="0" rtlCol="0" anchor="ctr"/>
          <a:lstStyle/>
          <a:p>
            <a:pPr marL="0" indent="0" algn="ctr">
              <a:buNone/>
            </a:pPr>
            <a:r>
              <a:rPr lang="en-US" sz="1200" b="1" dirty="0">
                <a:solidFill>
                  <a:srgbClr val="E5E7EB"/>
                </a:solidFill>
                <a:latin typeface="Calibri" pitchFamily="34" charset="0"/>
                <a:ea typeface="Calibri" pitchFamily="34" charset="-122"/>
                <a:cs typeface="Calibri" pitchFamily="34" charset="-120"/>
              </a:rPr>
              <a:t>s3</a:t>
            </a:r>
            <a:endParaRPr lang="en-US" sz="1200" dirty="0"/>
          </a:p>
        </p:txBody>
      </p:sp>
      <p:sp>
        <p:nvSpPr>
          <p:cNvPr id="27" name="Shape 24"/>
          <p:cNvSpPr/>
          <p:nvPr/>
        </p:nvSpPr>
        <p:spPr>
          <a:xfrm>
            <a:off x="3840480" y="3657600"/>
            <a:ext cx="731520" cy="457200"/>
          </a:xfrm>
          <a:prstGeom prst="roundRect">
            <a:avLst>
              <a:gd name="adj" fmla="val 12000"/>
            </a:avLst>
          </a:prstGeom>
          <a:solidFill>
            <a:srgbClr val="131C2E"/>
          </a:solidFill>
          <a:ln w="19050">
            <a:solidFill>
              <a:srgbClr val="22D3EE"/>
            </a:solidFill>
            <a:prstDash val="solid"/>
          </a:ln>
        </p:spPr>
      </p:sp>
      <p:sp>
        <p:nvSpPr>
          <p:cNvPr id="28" name="Text 25"/>
          <p:cNvSpPr txBox="1"/>
          <p:nvPr/>
        </p:nvSpPr>
        <p:spPr>
          <a:xfrm>
            <a:off x="3840480" y="3657600"/>
            <a:ext cx="731520" cy="457200"/>
          </a:xfrm>
          <a:prstGeom prst="rect">
            <a:avLst/>
          </a:prstGeom>
          <a:noFill/>
          <a:ln/>
        </p:spPr>
        <p:txBody>
          <a:bodyPr wrap="square" lIns="0" tIns="0" rIns="0" bIns="0" rtlCol="0" anchor="ctr"/>
          <a:lstStyle/>
          <a:p>
            <a:pPr marL="0" indent="0" algn="ctr">
              <a:buNone/>
            </a:pPr>
            <a:r>
              <a:rPr lang="en-US" sz="1200" b="1" dirty="0">
                <a:solidFill>
                  <a:srgbClr val="E5E7EB"/>
                </a:solidFill>
                <a:latin typeface="Calibri" pitchFamily="34" charset="0"/>
                <a:ea typeface="Calibri" pitchFamily="34" charset="-122"/>
                <a:cs typeface="Calibri" pitchFamily="34" charset="-120"/>
              </a:rPr>
              <a:t>s4</a:t>
            </a:r>
            <a:endParaRPr lang="en-US" sz="1200" dirty="0"/>
          </a:p>
        </p:txBody>
      </p:sp>
      <p:sp>
        <p:nvSpPr>
          <p:cNvPr id="29" name="Shape 26"/>
          <p:cNvSpPr/>
          <p:nvPr/>
        </p:nvSpPr>
        <p:spPr>
          <a:xfrm>
            <a:off x="365760" y="2103120"/>
            <a:ext cx="731520" cy="457200"/>
          </a:xfrm>
          <a:prstGeom prst="roundRect">
            <a:avLst>
              <a:gd name="adj" fmla="val 12000"/>
            </a:avLst>
          </a:prstGeom>
          <a:solidFill>
            <a:srgbClr val="131C2E"/>
          </a:solidFill>
          <a:ln w="19050">
            <a:solidFill>
              <a:srgbClr val="4ADE80"/>
            </a:solidFill>
            <a:prstDash val="solid"/>
          </a:ln>
        </p:spPr>
      </p:sp>
      <p:sp>
        <p:nvSpPr>
          <p:cNvPr id="30" name="Text 27"/>
          <p:cNvSpPr txBox="1"/>
          <p:nvPr/>
        </p:nvSpPr>
        <p:spPr>
          <a:xfrm>
            <a:off x="365760" y="2103120"/>
            <a:ext cx="731520" cy="457200"/>
          </a:xfrm>
          <a:prstGeom prst="rect">
            <a:avLst/>
          </a:prstGeom>
          <a:noFill/>
          <a:ln/>
        </p:spPr>
        <p:txBody>
          <a:bodyPr wrap="square" lIns="0" tIns="0" rIns="0" bIns="0" rtlCol="0" anchor="ctr"/>
          <a:lstStyle/>
          <a:p>
            <a:pPr marL="0" indent="0" algn="ctr">
              <a:buNone/>
            </a:pPr>
            <a:r>
              <a:rPr lang="en-US" sz="1000" b="1" dirty="0">
                <a:solidFill>
                  <a:srgbClr val="E5E7EB"/>
                </a:solidFill>
                <a:latin typeface="Calibri" pitchFamily="34" charset="0"/>
                <a:ea typeface="Calibri" pitchFamily="34" charset="-122"/>
                <a:cs typeface="Calibri" pitchFamily="34" charset="-120"/>
              </a:rPr>
              <a:t>h1</a:t>
            </a:r>
            <a:endParaRPr lang="en-US" sz="1000" dirty="0"/>
          </a:p>
          <a:p>
            <a:pPr marL="0" indent="0" algn="ctr">
              <a:buNone/>
            </a:pPr>
            <a:r>
              <a:rPr lang="en-US" sz="1000" b="1" dirty="0">
                <a:solidFill>
                  <a:srgbClr val="E5E7EB"/>
                </a:solidFill>
                <a:latin typeface="Calibri" pitchFamily="34" charset="0"/>
                <a:ea typeface="Calibri" pitchFamily="34" charset="-122"/>
                <a:cs typeface="Calibri" pitchFamily="34" charset="-120"/>
              </a:rPr>
              <a:t>client</a:t>
            </a:r>
            <a:endParaRPr lang="en-US" sz="1000" dirty="0"/>
          </a:p>
        </p:txBody>
      </p:sp>
      <p:sp>
        <p:nvSpPr>
          <p:cNvPr id="31" name="Shape 28"/>
          <p:cNvSpPr/>
          <p:nvPr/>
        </p:nvSpPr>
        <p:spPr>
          <a:xfrm>
            <a:off x="365760" y="3657600"/>
            <a:ext cx="731520" cy="457200"/>
          </a:xfrm>
          <a:prstGeom prst="roundRect">
            <a:avLst>
              <a:gd name="adj" fmla="val 12000"/>
            </a:avLst>
          </a:prstGeom>
          <a:solidFill>
            <a:srgbClr val="131C2E"/>
          </a:solidFill>
          <a:ln w="19050">
            <a:solidFill>
              <a:srgbClr val="4ADE80"/>
            </a:solidFill>
            <a:prstDash val="solid"/>
          </a:ln>
        </p:spPr>
      </p:sp>
      <p:sp>
        <p:nvSpPr>
          <p:cNvPr id="32" name="Text 29"/>
          <p:cNvSpPr txBox="1"/>
          <p:nvPr/>
        </p:nvSpPr>
        <p:spPr>
          <a:xfrm>
            <a:off x="365760" y="3657600"/>
            <a:ext cx="731520" cy="457200"/>
          </a:xfrm>
          <a:prstGeom prst="rect">
            <a:avLst/>
          </a:prstGeom>
          <a:noFill/>
          <a:ln/>
        </p:spPr>
        <p:txBody>
          <a:bodyPr wrap="square" lIns="0" tIns="0" rIns="0" bIns="0" rtlCol="0" anchor="ctr"/>
          <a:lstStyle/>
          <a:p>
            <a:pPr marL="0" indent="0" algn="ctr">
              <a:buNone/>
            </a:pPr>
            <a:r>
              <a:rPr lang="en-US" sz="1000" b="1" dirty="0">
                <a:solidFill>
                  <a:srgbClr val="E5E7EB"/>
                </a:solidFill>
                <a:latin typeface="Calibri" pitchFamily="34" charset="0"/>
                <a:ea typeface="Calibri" pitchFamily="34" charset="-122"/>
                <a:cs typeface="Calibri" pitchFamily="34" charset="-120"/>
              </a:rPr>
              <a:t>h2</a:t>
            </a:r>
            <a:endParaRPr lang="en-US" sz="1000" dirty="0"/>
          </a:p>
          <a:p>
            <a:pPr marL="0" indent="0" algn="ctr">
              <a:buNone/>
            </a:pPr>
            <a:r>
              <a:rPr lang="en-US" sz="1000" b="1" dirty="0">
                <a:solidFill>
                  <a:srgbClr val="E5E7EB"/>
                </a:solidFill>
                <a:latin typeface="Calibri" pitchFamily="34" charset="0"/>
                <a:ea typeface="Calibri" pitchFamily="34" charset="-122"/>
                <a:cs typeface="Calibri" pitchFamily="34" charset="-120"/>
              </a:rPr>
              <a:t>client</a:t>
            </a:r>
            <a:endParaRPr lang="en-US" sz="1000" dirty="0"/>
          </a:p>
        </p:txBody>
      </p:sp>
      <p:sp>
        <p:nvSpPr>
          <p:cNvPr id="33" name="Shape 30"/>
          <p:cNvSpPr/>
          <p:nvPr/>
        </p:nvSpPr>
        <p:spPr>
          <a:xfrm>
            <a:off x="4937760" y="2103120"/>
            <a:ext cx="731520" cy="457200"/>
          </a:xfrm>
          <a:prstGeom prst="roundRect">
            <a:avLst>
              <a:gd name="adj" fmla="val 12000"/>
            </a:avLst>
          </a:prstGeom>
          <a:solidFill>
            <a:srgbClr val="131C2E"/>
          </a:solidFill>
          <a:ln w="19050">
            <a:solidFill>
              <a:srgbClr val="FBBF24"/>
            </a:solidFill>
            <a:prstDash val="solid"/>
          </a:ln>
        </p:spPr>
      </p:sp>
      <p:sp>
        <p:nvSpPr>
          <p:cNvPr id="34" name="Text 31"/>
          <p:cNvSpPr txBox="1"/>
          <p:nvPr/>
        </p:nvSpPr>
        <p:spPr>
          <a:xfrm>
            <a:off x="4937760" y="2103120"/>
            <a:ext cx="731520" cy="457200"/>
          </a:xfrm>
          <a:prstGeom prst="rect">
            <a:avLst/>
          </a:prstGeom>
          <a:noFill/>
          <a:ln/>
        </p:spPr>
        <p:txBody>
          <a:bodyPr wrap="square" lIns="0" tIns="0" rIns="0" bIns="0" rtlCol="0" anchor="ctr"/>
          <a:lstStyle/>
          <a:p>
            <a:pPr marL="0" indent="0" algn="ctr">
              <a:buNone/>
            </a:pPr>
            <a:r>
              <a:rPr lang="en-US" sz="1000" b="1" dirty="0">
                <a:solidFill>
                  <a:srgbClr val="E5E7EB"/>
                </a:solidFill>
                <a:latin typeface="Calibri" pitchFamily="34" charset="0"/>
                <a:ea typeface="Calibri" pitchFamily="34" charset="-122"/>
                <a:cs typeface="Calibri" pitchFamily="34" charset="-120"/>
              </a:rPr>
              <a:t>h3</a:t>
            </a:r>
            <a:endParaRPr lang="en-US" sz="1000" dirty="0"/>
          </a:p>
          <a:p>
            <a:pPr marL="0" indent="0" algn="ctr">
              <a:buNone/>
            </a:pPr>
            <a:r>
              <a:rPr lang="en-US" sz="1000" b="1" dirty="0">
                <a:solidFill>
                  <a:srgbClr val="E5E7EB"/>
                </a:solidFill>
                <a:latin typeface="Calibri" pitchFamily="34" charset="0"/>
                <a:ea typeface="Calibri" pitchFamily="34" charset="-122"/>
                <a:cs typeface="Calibri" pitchFamily="34" charset="-120"/>
              </a:rPr>
              <a:t>server</a:t>
            </a:r>
            <a:endParaRPr lang="en-US" sz="1000" dirty="0"/>
          </a:p>
        </p:txBody>
      </p:sp>
      <p:sp>
        <p:nvSpPr>
          <p:cNvPr id="35" name="Shape 32"/>
          <p:cNvSpPr/>
          <p:nvPr/>
        </p:nvSpPr>
        <p:spPr>
          <a:xfrm>
            <a:off x="4937760" y="3657600"/>
            <a:ext cx="731520" cy="457200"/>
          </a:xfrm>
          <a:prstGeom prst="roundRect">
            <a:avLst>
              <a:gd name="adj" fmla="val 12000"/>
            </a:avLst>
          </a:prstGeom>
          <a:solidFill>
            <a:srgbClr val="131C2E"/>
          </a:solidFill>
          <a:ln w="19050">
            <a:solidFill>
              <a:srgbClr val="FBBF24"/>
            </a:solidFill>
            <a:prstDash val="solid"/>
          </a:ln>
        </p:spPr>
      </p:sp>
      <p:sp>
        <p:nvSpPr>
          <p:cNvPr id="36" name="Text 33"/>
          <p:cNvSpPr txBox="1"/>
          <p:nvPr/>
        </p:nvSpPr>
        <p:spPr>
          <a:xfrm>
            <a:off x="4937760" y="3657600"/>
            <a:ext cx="731520" cy="457200"/>
          </a:xfrm>
          <a:prstGeom prst="rect">
            <a:avLst/>
          </a:prstGeom>
          <a:noFill/>
          <a:ln/>
        </p:spPr>
        <p:txBody>
          <a:bodyPr wrap="square" lIns="0" tIns="0" rIns="0" bIns="0" rtlCol="0" anchor="ctr"/>
          <a:lstStyle/>
          <a:p>
            <a:pPr marL="0" indent="0" algn="ctr">
              <a:buNone/>
            </a:pPr>
            <a:r>
              <a:rPr lang="en-US" sz="1000" b="1" dirty="0">
                <a:solidFill>
                  <a:srgbClr val="E5E7EB"/>
                </a:solidFill>
                <a:latin typeface="Calibri" pitchFamily="34" charset="0"/>
                <a:ea typeface="Calibri" pitchFamily="34" charset="-122"/>
                <a:cs typeface="Calibri" pitchFamily="34" charset="-120"/>
              </a:rPr>
              <a:t>h4</a:t>
            </a:r>
            <a:endParaRPr lang="en-US" sz="1000" dirty="0"/>
          </a:p>
          <a:p>
            <a:pPr marL="0" indent="0" algn="ctr">
              <a:buNone/>
            </a:pPr>
            <a:r>
              <a:rPr lang="en-US" sz="1000" b="1" dirty="0">
                <a:solidFill>
                  <a:srgbClr val="E5E7EB"/>
                </a:solidFill>
                <a:latin typeface="Calibri" pitchFamily="34" charset="0"/>
                <a:ea typeface="Calibri" pitchFamily="34" charset="-122"/>
                <a:cs typeface="Calibri" pitchFamily="34" charset="-120"/>
              </a:rPr>
              <a:t>server</a:t>
            </a:r>
            <a:endParaRPr lang="en-US" sz="1000" dirty="0"/>
          </a:p>
        </p:txBody>
      </p:sp>
      <p:sp>
        <p:nvSpPr>
          <p:cNvPr id="37" name="Shape 34"/>
          <p:cNvSpPr/>
          <p:nvPr/>
        </p:nvSpPr>
        <p:spPr>
          <a:xfrm>
            <a:off x="457200" y="4526280"/>
            <a:ext cx="457200" cy="0"/>
          </a:xfrm>
          <a:prstGeom prst="line">
            <a:avLst/>
          </a:prstGeom>
          <a:noFill/>
          <a:ln w="25400">
            <a:solidFill>
              <a:srgbClr val="22D3EE"/>
            </a:solidFill>
            <a:prstDash val="solid"/>
          </a:ln>
        </p:spPr>
      </p:sp>
      <p:sp>
        <p:nvSpPr>
          <p:cNvPr id="38" name="Text 35"/>
          <p:cNvSpPr txBox="1"/>
          <p:nvPr/>
        </p:nvSpPr>
        <p:spPr>
          <a:xfrm>
            <a:off x="1005840" y="4434840"/>
            <a:ext cx="1645920" cy="18288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data plane (TCP :9000)</a:t>
            </a:r>
            <a:endParaRPr lang="en-US" sz="1000" dirty="0"/>
          </a:p>
        </p:txBody>
      </p:sp>
      <p:sp>
        <p:nvSpPr>
          <p:cNvPr id="39" name="Shape 36"/>
          <p:cNvSpPr/>
          <p:nvPr/>
        </p:nvSpPr>
        <p:spPr>
          <a:xfrm>
            <a:off x="2743200" y="4526280"/>
            <a:ext cx="457200" cy="0"/>
          </a:xfrm>
          <a:prstGeom prst="line">
            <a:avLst/>
          </a:prstGeom>
          <a:noFill/>
          <a:ln w="19050">
            <a:solidFill>
              <a:srgbClr val="A78BFA"/>
            </a:solidFill>
            <a:prstDash val="dash"/>
          </a:ln>
        </p:spPr>
      </p:sp>
      <p:sp>
        <p:nvSpPr>
          <p:cNvPr id="40" name="Text 37"/>
          <p:cNvSpPr txBox="1"/>
          <p:nvPr/>
        </p:nvSpPr>
        <p:spPr>
          <a:xfrm>
            <a:off x="3291840" y="4434840"/>
            <a:ext cx="2194560" cy="18288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control plane (all 4 switches)</a:t>
            </a:r>
            <a:endParaRPr lang="en-US" sz="1000" dirty="0"/>
          </a:p>
        </p:txBody>
      </p:sp>
      <p:sp>
        <p:nvSpPr>
          <p:cNvPr id="41" name="Shape 38"/>
          <p:cNvSpPr/>
          <p:nvPr/>
        </p:nvSpPr>
        <p:spPr>
          <a:xfrm>
            <a:off x="6035040" y="914400"/>
            <a:ext cx="2651760" cy="3749040"/>
          </a:xfrm>
          <a:prstGeom prst="roundRect">
            <a:avLst>
              <a:gd name="adj" fmla="val 2759"/>
            </a:avLst>
          </a:prstGeom>
          <a:solidFill>
            <a:srgbClr val="131C2E"/>
          </a:solidFill>
          <a:ln w="12700">
            <a:solidFill>
              <a:srgbClr val="22D3EE"/>
            </a:solidFill>
            <a:prstDash val="solid"/>
          </a:ln>
        </p:spPr>
      </p:sp>
      <p:sp>
        <p:nvSpPr>
          <p:cNvPr id="42" name="Text 39"/>
          <p:cNvSpPr txBox="1"/>
          <p:nvPr/>
        </p:nvSpPr>
        <p:spPr>
          <a:xfrm>
            <a:off x="6172200" y="1005840"/>
            <a:ext cx="2377440" cy="274320"/>
          </a:xfrm>
          <a:prstGeom prst="rect">
            <a:avLst/>
          </a:prstGeom>
          <a:noFill/>
          <a:ln/>
        </p:spPr>
        <p:txBody>
          <a:bodyPr wrap="square" lIns="0" tIns="0" rIns="0" bIns="0" rtlCol="0" anchor="t"/>
          <a:lstStyle/>
          <a:p>
            <a:pPr marL="0" indent="0">
              <a:buNone/>
            </a:pPr>
            <a:r>
              <a:rPr lang="en-US" sz="1400" b="1" dirty="0">
                <a:solidFill>
                  <a:srgbClr val="22D3EE"/>
                </a:solidFill>
                <a:latin typeface="Calibri" pitchFamily="34" charset="0"/>
                <a:ea typeface="Calibri" pitchFamily="34" charset="-122"/>
                <a:cs typeface="Calibri" pitchFamily="34" charset="-120"/>
              </a:rPr>
              <a:t>Communication flow</a:t>
            </a:r>
            <a:endParaRPr lang="en-US" sz="1400" dirty="0"/>
          </a:p>
        </p:txBody>
      </p:sp>
      <p:sp>
        <p:nvSpPr>
          <p:cNvPr id="43" name="Text 40"/>
          <p:cNvSpPr txBox="1"/>
          <p:nvPr/>
        </p:nvSpPr>
        <p:spPr>
          <a:xfrm>
            <a:off x="6172200" y="1325880"/>
            <a:ext cx="2377440" cy="3246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Client (h1/h2) opens TCP to server h3, then h4 on failover</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DATA frames go to the server; ACK frames come back</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Ryu discovers topology (LLDP), installs flows, reacts to port-status events</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Flask dashboard (:5000) shows topology and transfers via REST + WebSocket</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02920"/>
          </a:xfrm>
          <a:prstGeom prst="rect">
            <a:avLst/>
          </a:prstGeom>
          <a:noFill/>
          <a:ln/>
        </p:spPr>
        <p:txBody>
          <a:bodyPr wrap="square" lIns="0" tIns="0" rIns="0" bIns="0" rtlCol="0" anchor="ctr"/>
          <a:lstStyle/>
          <a:p>
            <a:pPr marL="0" indent="0">
              <a:buNone/>
            </a:pPr>
            <a:r>
              <a:rPr lang="en-US" sz="2600" b="1" dirty="0">
                <a:solidFill>
                  <a:srgbClr val="E5E7EB"/>
                </a:solidFill>
                <a:latin typeface="Calibri" pitchFamily="34" charset="0"/>
                <a:ea typeface="Calibri" pitchFamily="34" charset="-122"/>
                <a:cs typeface="Calibri" pitchFamily="34" charset="-120"/>
              </a:rPr>
              <a:t>Main Problems to overcome</a:t>
            </a:r>
            <a:endParaRPr lang="en-US" sz="2600" dirty="0"/>
          </a:p>
        </p:txBody>
      </p:sp>
      <p:sp>
        <p:nvSpPr>
          <p:cNvPr id="3" name="Text 1"/>
          <p:cNvSpPr txBox="1"/>
          <p:nvPr/>
        </p:nvSpPr>
        <p:spPr>
          <a:xfrm>
            <a:off x="457200" y="4800600"/>
            <a:ext cx="8229600" cy="228600"/>
          </a:xfrm>
          <a:prstGeom prst="rect">
            <a:avLst/>
          </a:prstGeom>
          <a:noFill/>
          <a:ln/>
        </p:spPr>
        <p:txBody>
          <a:bodyPr wrap="square" lIns="0" tIns="0" rIns="0" bIns="0" rtlCol="0" anchor="t"/>
          <a:lstStyle/>
          <a:p>
            <a:pPr marL="0" indent="0">
              <a:buNone/>
            </a:pPr>
            <a:endParaRPr lang="en-US" sz="1000" dirty="0"/>
          </a:p>
        </p:txBody>
      </p:sp>
      <p:sp>
        <p:nvSpPr>
          <p:cNvPr id="5" name="Text 2"/>
          <p:cNvSpPr txBox="1"/>
          <p:nvPr/>
        </p:nvSpPr>
        <p:spPr>
          <a:xfrm>
            <a:off x="457200" y="914400"/>
            <a:ext cx="3474720" cy="274320"/>
          </a:xfrm>
          <a:prstGeom prst="rect">
            <a:avLst/>
          </a:prstGeom>
          <a:noFill/>
          <a:ln/>
        </p:spPr>
        <p:txBody>
          <a:bodyPr wrap="square" lIns="0" tIns="0" rIns="0" bIns="0" rtlCol="0" anchor="t"/>
          <a:lstStyle/>
          <a:p>
            <a:pPr marL="0" indent="0">
              <a:buNone/>
            </a:pPr>
            <a:r>
              <a:rPr lang="en-US" sz="1300" b="1" dirty="0">
                <a:solidFill>
                  <a:srgbClr val="F87171"/>
                </a:solidFill>
                <a:latin typeface="Calibri" pitchFamily="34" charset="0"/>
                <a:ea typeface="Calibri" pitchFamily="34" charset="-122"/>
                <a:cs typeface="Calibri" pitchFamily="34" charset="-120"/>
              </a:rPr>
              <a:t>WHAT GOES WRONG</a:t>
            </a:r>
            <a:endParaRPr lang="en-US" sz="1300" dirty="0"/>
          </a:p>
        </p:txBody>
      </p:sp>
      <p:sp>
        <p:nvSpPr>
          <p:cNvPr id="6" name="Text 3"/>
          <p:cNvSpPr txBox="1"/>
          <p:nvPr/>
        </p:nvSpPr>
        <p:spPr>
          <a:xfrm>
            <a:off x="5212080" y="914400"/>
            <a:ext cx="3474720" cy="274320"/>
          </a:xfrm>
          <a:prstGeom prst="rect">
            <a:avLst/>
          </a:prstGeom>
          <a:noFill/>
          <a:ln/>
        </p:spPr>
        <p:txBody>
          <a:bodyPr wrap="square" lIns="0" tIns="0" rIns="0" bIns="0" rtlCol="0" anchor="t"/>
          <a:lstStyle/>
          <a:p>
            <a:pPr marL="0" indent="0">
              <a:buNone/>
            </a:pPr>
            <a:r>
              <a:rPr lang="en-US" sz="1300" b="1" dirty="0">
                <a:solidFill>
                  <a:srgbClr val="4ADE80"/>
                </a:solidFill>
                <a:latin typeface="Calibri" pitchFamily="34" charset="0"/>
                <a:ea typeface="Calibri" pitchFamily="34" charset="-122"/>
                <a:cs typeface="Calibri" pitchFamily="34" charset="-120"/>
              </a:rPr>
              <a:t>WHAT WE BUILT</a:t>
            </a:r>
            <a:endParaRPr lang="en-US" sz="1300" dirty="0"/>
          </a:p>
        </p:txBody>
      </p:sp>
      <p:sp>
        <p:nvSpPr>
          <p:cNvPr id="7" name="Shape 4"/>
          <p:cNvSpPr/>
          <p:nvPr/>
        </p:nvSpPr>
        <p:spPr>
          <a:xfrm>
            <a:off x="457200" y="1280160"/>
            <a:ext cx="3474720" cy="960120"/>
          </a:xfrm>
          <a:prstGeom prst="roundRect">
            <a:avLst>
              <a:gd name="adj" fmla="val 7619"/>
            </a:avLst>
          </a:prstGeom>
          <a:solidFill>
            <a:srgbClr val="131C2E"/>
          </a:solidFill>
          <a:ln w="12700">
            <a:solidFill>
              <a:srgbClr val="F87171"/>
            </a:solidFill>
            <a:prstDash val="solid"/>
          </a:ln>
        </p:spPr>
      </p:sp>
      <p:sp>
        <p:nvSpPr>
          <p:cNvPr id="8" name="Text 5"/>
          <p:cNvSpPr txBox="1"/>
          <p:nvPr/>
        </p:nvSpPr>
        <p:spPr>
          <a:xfrm>
            <a:off x="594360" y="1371600"/>
            <a:ext cx="3200400" cy="274320"/>
          </a:xfrm>
          <a:prstGeom prst="rect">
            <a:avLst/>
          </a:prstGeom>
          <a:noFill/>
          <a:ln/>
        </p:spPr>
        <p:txBody>
          <a:bodyPr wrap="square" lIns="0" tIns="0" rIns="0" bIns="0" rtlCol="0" anchor="t"/>
          <a:lstStyle/>
          <a:p>
            <a:pPr marL="0" indent="0">
              <a:buNone/>
            </a:pPr>
            <a:r>
              <a:rPr lang="en-US" sz="1400" b="1" dirty="0">
                <a:solidFill>
                  <a:srgbClr val="F87171"/>
                </a:solidFill>
                <a:latin typeface="Calibri" pitchFamily="34" charset="0"/>
                <a:ea typeface="Calibri" pitchFamily="34" charset="-122"/>
                <a:cs typeface="Calibri" pitchFamily="34" charset="-120"/>
              </a:rPr>
              <a:t>Data corruption</a:t>
            </a:r>
            <a:endParaRPr lang="en-US" sz="1400" dirty="0"/>
          </a:p>
        </p:txBody>
      </p:sp>
      <p:sp>
        <p:nvSpPr>
          <p:cNvPr id="9" name="Text 6"/>
          <p:cNvSpPr txBox="1"/>
          <p:nvPr/>
        </p:nvSpPr>
        <p:spPr>
          <a:xfrm>
            <a:off x="594360" y="1691640"/>
            <a:ext cx="3200400" cy="457200"/>
          </a:xfrm>
          <a:prstGeom prst="rect">
            <a:avLst/>
          </a:prstGeom>
          <a:noFill/>
          <a:ln/>
        </p:spPr>
        <p:txBody>
          <a:bodyPr wrap="square" lIns="0" tIns="0" rIns="0" bIns="0" rtlCol="0" anchor="t"/>
          <a:lstStyle/>
          <a:p>
            <a:pPr marL="0" indent="0">
              <a:buNone/>
            </a:pPr>
            <a:r>
              <a:rPr lang="en-US" sz="1200" dirty="0">
                <a:solidFill>
                  <a:srgbClr val="E5E7EB"/>
                </a:solidFill>
                <a:latin typeface="Calibri" pitchFamily="34" charset="0"/>
                <a:ea typeface="Calibri" pitchFamily="34" charset="-122"/>
                <a:cs typeface="Calibri" pitchFamily="34" charset="-120"/>
              </a:rPr>
              <a:t>Bits flip in transit or on disk</a:t>
            </a:r>
            <a:endParaRPr lang="en-US" sz="1200" dirty="0"/>
          </a:p>
        </p:txBody>
      </p:sp>
      <p:sp>
        <p:nvSpPr>
          <p:cNvPr id="10" name="Shape 7"/>
          <p:cNvSpPr/>
          <p:nvPr/>
        </p:nvSpPr>
        <p:spPr>
          <a:xfrm>
            <a:off x="5212080" y="1280160"/>
            <a:ext cx="3474720" cy="960120"/>
          </a:xfrm>
          <a:prstGeom prst="roundRect">
            <a:avLst>
              <a:gd name="adj" fmla="val 7619"/>
            </a:avLst>
          </a:prstGeom>
          <a:solidFill>
            <a:srgbClr val="131C2E"/>
          </a:solidFill>
          <a:ln w="12700">
            <a:solidFill>
              <a:srgbClr val="4ADE80"/>
            </a:solidFill>
            <a:prstDash val="solid"/>
          </a:ln>
        </p:spPr>
      </p:sp>
      <p:sp>
        <p:nvSpPr>
          <p:cNvPr id="11" name="Text 8"/>
          <p:cNvSpPr txBox="1"/>
          <p:nvPr/>
        </p:nvSpPr>
        <p:spPr>
          <a:xfrm>
            <a:off x="5349240" y="1371600"/>
            <a:ext cx="3200400" cy="274320"/>
          </a:xfrm>
          <a:prstGeom prst="rect">
            <a:avLst/>
          </a:prstGeom>
          <a:noFill/>
          <a:ln/>
        </p:spPr>
        <p:txBody>
          <a:bodyPr wrap="square" lIns="0" tIns="0" rIns="0" bIns="0" rtlCol="0" anchor="t"/>
          <a:lstStyle/>
          <a:p>
            <a:pPr marL="0" indent="0">
              <a:buNone/>
            </a:pPr>
            <a:r>
              <a:rPr lang="en-US" sz="1400" b="1" dirty="0">
                <a:solidFill>
                  <a:srgbClr val="4ADE80"/>
                </a:solidFill>
                <a:latin typeface="Calibri" pitchFamily="34" charset="0"/>
                <a:ea typeface="Calibri" pitchFamily="34" charset="-122"/>
                <a:cs typeface="Calibri" pitchFamily="34" charset="-120"/>
              </a:rPr>
              <a:t>CRC32 per 8 KB chunk</a:t>
            </a:r>
            <a:endParaRPr lang="en-US" sz="1400" dirty="0"/>
          </a:p>
        </p:txBody>
      </p:sp>
      <p:sp>
        <p:nvSpPr>
          <p:cNvPr id="12" name="Text 9"/>
          <p:cNvSpPr txBox="1"/>
          <p:nvPr/>
        </p:nvSpPr>
        <p:spPr>
          <a:xfrm>
            <a:off x="5349240" y="1691640"/>
            <a:ext cx="3200400" cy="457200"/>
          </a:xfrm>
          <a:prstGeom prst="rect">
            <a:avLst/>
          </a:prstGeom>
          <a:noFill/>
          <a:ln/>
        </p:spPr>
        <p:txBody>
          <a:bodyPr wrap="square" lIns="0" tIns="0" rIns="0" bIns="0" rtlCol="0" anchor="t"/>
          <a:lstStyle/>
          <a:p>
            <a:pPr marL="0" indent="0">
              <a:buNone/>
            </a:pPr>
            <a:r>
              <a:rPr lang="en-US" sz="1200" dirty="0">
                <a:solidFill>
                  <a:srgbClr val="E5E7EB"/>
                </a:solidFill>
                <a:latin typeface="Calibri" pitchFamily="34" charset="0"/>
                <a:ea typeface="Calibri" pitchFamily="34" charset="-122"/>
                <a:cs typeface="Calibri" pitchFamily="34" charset="-120"/>
              </a:rPr>
              <a:t>Server verifies and ACKs each chunk</a:t>
            </a:r>
            <a:endParaRPr lang="en-US" sz="1200" dirty="0"/>
          </a:p>
        </p:txBody>
      </p:sp>
      <p:sp>
        <p:nvSpPr>
          <p:cNvPr id="13" name="Shape 10"/>
          <p:cNvSpPr/>
          <p:nvPr/>
        </p:nvSpPr>
        <p:spPr>
          <a:xfrm>
            <a:off x="4206240" y="1554480"/>
            <a:ext cx="731520" cy="411480"/>
          </a:xfrm>
          <a:prstGeom prst="rightArrow">
            <a:avLst/>
          </a:prstGeom>
          <a:solidFill>
            <a:srgbClr val="22D3EE"/>
          </a:solidFill>
          <a:ln/>
        </p:spPr>
      </p:sp>
      <p:sp>
        <p:nvSpPr>
          <p:cNvPr id="14" name="Shape 11"/>
          <p:cNvSpPr/>
          <p:nvPr/>
        </p:nvSpPr>
        <p:spPr>
          <a:xfrm>
            <a:off x="457200" y="2423160"/>
            <a:ext cx="3474720" cy="960120"/>
          </a:xfrm>
          <a:prstGeom prst="roundRect">
            <a:avLst>
              <a:gd name="adj" fmla="val 7619"/>
            </a:avLst>
          </a:prstGeom>
          <a:solidFill>
            <a:srgbClr val="131C2E"/>
          </a:solidFill>
          <a:ln w="12700">
            <a:solidFill>
              <a:srgbClr val="F87171"/>
            </a:solidFill>
            <a:prstDash val="solid"/>
          </a:ln>
        </p:spPr>
      </p:sp>
      <p:sp>
        <p:nvSpPr>
          <p:cNvPr id="15" name="Text 12"/>
          <p:cNvSpPr txBox="1"/>
          <p:nvPr/>
        </p:nvSpPr>
        <p:spPr>
          <a:xfrm>
            <a:off x="594360" y="2514600"/>
            <a:ext cx="3200400" cy="274320"/>
          </a:xfrm>
          <a:prstGeom prst="rect">
            <a:avLst/>
          </a:prstGeom>
          <a:noFill/>
          <a:ln/>
        </p:spPr>
        <p:txBody>
          <a:bodyPr wrap="square" lIns="0" tIns="0" rIns="0" bIns="0" rtlCol="0" anchor="t"/>
          <a:lstStyle/>
          <a:p>
            <a:pPr marL="0" indent="0">
              <a:buNone/>
            </a:pPr>
            <a:r>
              <a:rPr lang="en-US" sz="1400" b="1" dirty="0">
                <a:solidFill>
                  <a:srgbClr val="F87171"/>
                </a:solidFill>
                <a:latin typeface="Calibri" pitchFamily="34" charset="0"/>
                <a:ea typeface="Calibri" pitchFamily="34" charset="-122"/>
                <a:cs typeface="Calibri" pitchFamily="34" charset="-120"/>
              </a:rPr>
              <a:t>Interrupted transfers</a:t>
            </a:r>
            <a:endParaRPr lang="en-US" sz="1400" dirty="0"/>
          </a:p>
        </p:txBody>
      </p:sp>
      <p:sp>
        <p:nvSpPr>
          <p:cNvPr id="16" name="Text 13"/>
          <p:cNvSpPr txBox="1"/>
          <p:nvPr/>
        </p:nvSpPr>
        <p:spPr>
          <a:xfrm>
            <a:off x="594360" y="2834640"/>
            <a:ext cx="3200400" cy="457200"/>
          </a:xfrm>
          <a:prstGeom prst="rect">
            <a:avLst/>
          </a:prstGeom>
          <a:noFill/>
          <a:ln/>
        </p:spPr>
        <p:txBody>
          <a:bodyPr wrap="square" lIns="0" tIns="0" rIns="0" bIns="0" rtlCol="0" anchor="t"/>
          <a:lstStyle/>
          <a:p>
            <a:pPr marL="0" indent="0">
              <a:buNone/>
            </a:pPr>
            <a:r>
              <a:rPr lang="en-US" sz="1200" dirty="0">
                <a:solidFill>
                  <a:srgbClr val="E5E7EB"/>
                </a:solidFill>
                <a:latin typeface="Calibri" pitchFamily="34" charset="0"/>
                <a:ea typeface="Calibri" pitchFamily="34" charset="-122"/>
                <a:cs typeface="Calibri" pitchFamily="34" charset="-120"/>
              </a:rPr>
              <a:t>Connection drops mid-file; restart wastes work</a:t>
            </a:r>
            <a:endParaRPr lang="en-US" sz="1200" dirty="0"/>
          </a:p>
        </p:txBody>
      </p:sp>
      <p:sp>
        <p:nvSpPr>
          <p:cNvPr id="17" name="Shape 14"/>
          <p:cNvSpPr/>
          <p:nvPr/>
        </p:nvSpPr>
        <p:spPr>
          <a:xfrm>
            <a:off x="5212080" y="2423160"/>
            <a:ext cx="3474720" cy="960120"/>
          </a:xfrm>
          <a:prstGeom prst="roundRect">
            <a:avLst>
              <a:gd name="adj" fmla="val 7619"/>
            </a:avLst>
          </a:prstGeom>
          <a:solidFill>
            <a:srgbClr val="131C2E"/>
          </a:solidFill>
          <a:ln w="12700">
            <a:solidFill>
              <a:srgbClr val="4ADE80"/>
            </a:solidFill>
            <a:prstDash val="solid"/>
          </a:ln>
        </p:spPr>
      </p:sp>
      <p:sp>
        <p:nvSpPr>
          <p:cNvPr id="18" name="Text 15"/>
          <p:cNvSpPr txBox="1"/>
          <p:nvPr/>
        </p:nvSpPr>
        <p:spPr>
          <a:xfrm>
            <a:off x="5349240" y="2514600"/>
            <a:ext cx="3200400" cy="274320"/>
          </a:xfrm>
          <a:prstGeom prst="rect">
            <a:avLst/>
          </a:prstGeom>
          <a:noFill/>
          <a:ln/>
        </p:spPr>
        <p:txBody>
          <a:bodyPr wrap="square" lIns="0" tIns="0" rIns="0" bIns="0" rtlCol="0" anchor="t"/>
          <a:lstStyle/>
          <a:p>
            <a:pPr marL="0" indent="0">
              <a:buNone/>
            </a:pPr>
            <a:r>
              <a:rPr lang="en-US" sz="1400" b="1" dirty="0">
                <a:solidFill>
                  <a:srgbClr val="4ADE80"/>
                </a:solidFill>
                <a:latin typeface="Calibri" pitchFamily="34" charset="0"/>
                <a:ea typeface="Calibri" pitchFamily="34" charset="-122"/>
                <a:cs typeface="Calibri" pitchFamily="34" charset="-120"/>
              </a:rPr>
              <a:t>RESUME from last ACKed chunk</a:t>
            </a:r>
            <a:endParaRPr lang="en-US" sz="1400" dirty="0"/>
          </a:p>
        </p:txBody>
      </p:sp>
      <p:sp>
        <p:nvSpPr>
          <p:cNvPr id="19" name="Text 16"/>
          <p:cNvSpPr txBox="1"/>
          <p:nvPr/>
        </p:nvSpPr>
        <p:spPr>
          <a:xfrm>
            <a:off x="5349240" y="2834640"/>
            <a:ext cx="3200400" cy="457200"/>
          </a:xfrm>
          <a:prstGeom prst="rect">
            <a:avLst/>
          </a:prstGeom>
          <a:noFill/>
          <a:ln/>
        </p:spPr>
        <p:txBody>
          <a:bodyPr wrap="square" lIns="0" tIns="0" rIns="0" bIns="0" rtlCol="0" anchor="t"/>
          <a:lstStyle/>
          <a:p>
            <a:pPr marL="0" indent="0">
              <a:buNone/>
            </a:pPr>
            <a:r>
              <a:rPr lang="en-US" sz="1200" dirty="0">
                <a:solidFill>
                  <a:srgbClr val="E5E7EB"/>
                </a:solidFill>
                <a:latin typeface="Calibri" pitchFamily="34" charset="0"/>
                <a:ea typeface="Calibri" pitchFamily="34" charset="-122"/>
                <a:cs typeface="Calibri" pitchFamily="34" charset="-120"/>
              </a:rPr>
              <a:t>Client + server track progress</a:t>
            </a:r>
            <a:endParaRPr lang="en-US" sz="1200" dirty="0"/>
          </a:p>
        </p:txBody>
      </p:sp>
      <p:sp>
        <p:nvSpPr>
          <p:cNvPr id="20" name="Shape 17"/>
          <p:cNvSpPr/>
          <p:nvPr/>
        </p:nvSpPr>
        <p:spPr>
          <a:xfrm>
            <a:off x="4206240" y="2697480"/>
            <a:ext cx="731520" cy="411480"/>
          </a:xfrm>
          <a:prstGeom prst="rightArrow">
            <a:avLst/>
          </a:prstGeom>
          <a:solidFill>
            <a:srgbClr val="22D3EE"/>
          </a:solidFill>
          <a:ln/>
        </p:spPr>
      </p:sp>
      <p:sp>
        <p:nvSpPr>
          <p:cNvPr id="21" name="Shape 18"/>
          <p:cNvSpPr/>
          <p:nvPr/>
        </p:nvSpPr>
        <p:spPr>
          <a:xfrm>
            <a:off x="457200" y="3566160"/>
            <a:ext cx="3474720" cy="960120"/>
          </a:xfrm>
          <a:prstGeom prst="roundRect">
            <a:avLst>
              <a:gd name="adj" fmla="val 7619"/>
            </a:avLst>
          </a:prstGeom>
          <a:solidFill>
            <a:srgbClr val="131C2E"/>
          </a:solidFill>
          <a:ln w="12700">
            <a:solidFill>
              <a:srgbClr val="F87171"/>
            </a:solidFill>
            <a:prstDash val="solid"/>
          </a:ln>
        </p:spPr>
      </p:sp>
      <p:sp>
        <p:nvSpPr>
          <p:cNvPr id="22" name="Text 19"/>
          <p:cNvSpPr txBox="1"/>
          <p:nvPr/>
        </p:nvSpPr>
        <p:spPr>
          <a:xfrm>
            <a:off x="594360" y="3657600"/>
            <a:ext cx="3200400" cy="274320"/>
          </a:xfrm>
          <a:prstGeom prst="rect">
            <a:avLst/>
          </a:prstGeom>
          <a:noFill/>
          <a:ln/>
        </p:spPr>
        <p:txBody>
          <a:bodyPr wrap="square" lIns="0" tIns="0" rIns="0" bIns="0" rtlCol="0" anchor="t"/>
          <a:lstStyle/>
          <a:p>
            <a:pPr marL="0" indent="0">
              <a:buNone/>
            </a:pPr>
            <a:r>
              <a:rPr lang="en-US" sz="1400" b="1" dirty="0">
                <a:solidFill>
                  <a:srgbClr val="F87171"/>
                </a:solidFill>
                <a:latin typeface="Calibri" pitchFamily="34" charset="0"/>
                <a:ea typeface="Calibri" pitchFamily="34" charset="-122"/>
                <a:cs typeface="Calibri" pitchFamily="34" charset="-120"/>
              </a:rPr>
              <a:t>Network link failure</a:t>
            </a:r>
            <a:endParaRPr lang="en-US" sz="1400" dirty="0"/>
          </a:p>
        </p:txBody>
      </p:sp>
      <p:sp>
        <p:nvSpPr>
          <p:cNvPr id="23" name="Text 20"/>
          <p:cNvSpPr txBox="1"/>
          <p:nvPr/>
        </p:nvSpPr>
        <p:spPr>
          <a:xfrm>
            <a:off x="594360" y="3977640"/>
            <a:ext cx="3200400" cy="457200"/>
          </a:xfrm>
          <a:prstGeom prst="rect">
            <a:avLst/>
          </a:prstGeom>
          <a:noFill/>
          <a:ln/>
        </p:spPr>
        <p:txBody>
          <a:bodyPr wrap="square" lIns="0" tIns="0" rIns="0" bIns="0" rtlCol="0" anchor="t"/>
          <a:lstStyle/>
          <a:p>
            <a:pPr marL="0" indent="0">
              <a:buNone/>
            </a:pPr>
            <a:r>
              <a:rPr lang="en-US" sz="1200" dirty="0">
                <a:solidFill>
                  <a:srgbClr val="E5E7EB"/>
                </a:solidFill>
                <a:latin typeface="Calibri" pitchFamily="34" charset="0"/>
                <a:ea typeface="Calibri" pitchFamily="34" charset="-122"/>
                <a:cs typeface="Calibri" pitchFamily="34" charset="-120"/>
              </a:rPr>
              <a:t>Path disappears; traffic black-holes</a:t>
            </a:r>
            <a:endParaRPr lang="en-US" sz="1200" dirty="0"/>
          </a:p>
        </p:txBody>
      </p:sp>
      <p:sp>
        <p:nvSpPr>
          <p:cNvPr id="24" name="Shape 21"/>
          <p:cNvSpPr/>
          <p:nvPr/>
        </p:nvSpPr>
        <p:spPr>
          <a:xfrm>
            <a:off x="5212080" y="3566160"/>
            <a:ext cx="3474720" cy="960120"/>
          </a:xfrm>
          <a:prstGeom prst="roundRect">
            <a:avLst>
              <a:gd name="adj" fmla="val 7619"/>
            </a:avLst>
          </a:prstGeom>
          <a:solidFill>
            <a:srgbClr val="131C2E"/>
          </a:solidFill>
          <a:ln w="12700">
            <a:solidFill>
              <a:srgbClr val="4ADE80"/>
            </a:solidFill>
            <a:prstDash val="solid"/>
          </a:ln>
        </p:spPr>
      </p:sp>
      <p:sp>
        <p:nvSpPr>
          <p:cNvPr id="25" name="Text 22"/>
          <p:cNvSpPr txBox="1"/>
          <p:nvPr/>
        </p:nvSpPr>
        <p:spPr>
          <a:xfrm>
            <a:off x="5349240" y="3657600"/>
            <a:ext cx="3200400" cy="274320"/>
          </a:xfrm>
          <a:prstGeom prst="rect">
            <a:avLst/>
          </a:prstGeom>
          <a:noFill/>
          <a:ln/>
        </p:spPr>
        <p:txBody>
          <a:bodyPr wrap="square" lIns="0" tIns="0" rIns="0" bIns="0" rtlCol="0" anchor="t"/>
          <a:lstStyle/>
          <a:p>
            <a:pPr marL="0" indent="0">
              <a:buNone/>
            </a:pPr>
            <a:r>
              <a:rPr lang="en-US" sz="1400" b="1" dirty="0">
                <a:solidFill>
                  <a:srgbClr val="4ADE80"/>
                </a:solidFill>
                <a:latin typeface="Calibri" pitchFamily="34" charset="0"/>
                <a:ea typeface="Calibri" pitchFamily="34" charset="-122"/>
                <a:cs typeface="Calibri" pitchFamily="34" charset="-120"/>
              </a:rPr>
              <a:t>Dijkstra rerouting in Ryu</a:t>
            </a:r>
            <a:endParaRPr lang="en-US" sz="1400" dirty="0"/>
          </a:p>
        </p:txBody>
      </p:sp>
      <p:sp>
        <p:nvSpPr>
          <p:cNvPr id="26" name="Text 23"/>
          <p:cNvSpPr txBox="1"/>
          <p:nvPr/>
        </p:nvSpPr>
        <p:spPr>
          <a:xfrm>
            <a:off x="5349240" y="3977640"/>
            <a:ext cx="3200400" cy="457200"/>
          </a:xfrm>
          <a:prstGeom prst="rect">
            <a:avLst/>
          </a:prstGeom>
          <a:noFill/>
          <a:ln/>
        </p:spPr>
        <p:txBody>
          <a:bodyPr wrap="square" lIns="0" tIns="0" rIns="0" bIns="0" rtlCol="0" anchor="t"/>
          <a:lstStyle/>
          <a:p>
            <a:pPr marL="0" indent="0">
              <a:buNone/>
            </a:pPr>
            <a:r>
              <a:rPr lang="en-US" sz="1200" dirty="0">
                <a:solidFill>
                  <a:srgbClr val="E5E7EB"/>
                </a:solidFill>
                <a:latin typeface="Calibri" pitchFamily="34" charset="0"/>
                <a:ea typeface="Calibri" pitchFamily="34" charset="-122"/>
                <a:cs typeface="Calibri" pitchFamily="34" charset="-120"/>
              </a:rPr>
              <a:t>Port-down event triggers new flow rules</a:t>
            </a:r>
            <a:endParaRPr lang="en-US" sz="1200" dirty="0"/>
          </a:p>
        </p:txBody>
      </p:sp>
      <p:sp>
        <p:nvSpPr>
          <p:cNvPr id="27" name="Shape 24"/>
          <p:cNvSpPr/>
          <p:nvPr/>
        </p:nvSpPr>
        <p:spPr>
          <a:xfrm>
            <a:off x="4206240" y="3840480"/>
            <a:ext cx="731520" cy="411480"/>
          </a:xfrm>
          <a:prstGeom prst="rightArrow">
            <a:avLst/>
          </a:prstGeom>
          <a:solidFill>
            <a:srgbClr val="22D3EE"/>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02920"/>
          </a:xfrm>
          <a:prstGeom prst="rect">
            <a:avLst/>
          </a:prstGeom>
          <a:noFill/>
          <a:ln/>
        </p:spPr>
        <p:txBody>
          <a:bodyPr wrap="square" lIns="0" tIns="0" rIns="0" bIns="0" rtlCol="0" anchor="ctr"/>
          <a:lstStyle/>
          <a:p>
            <a:pPr marL="0" indent="0">
              <a:buNone/>
            </a:pPr>
            <a:r>
              <a:rPr lang="en-US" sz="2600" b="1" dirty="0">
                <a:solidFill>
                  <a:srgbClr val="E5E7EB"/>
                </a:solidFill>
                <a:latin typeface="Calibri" pitchFamily="34" charset="0"/>
                <a:ea typeface="Calibri" pitchFamily="34" charset="-122"/>
                <a:cs typeface="Calibri" pitchFamily="34" charset="-120"/>
              </a:rPr>
              <a:t>TCP Socket Programming</a:t>
            </a:r>
            <a:endParaRPr lang="en-US" sz="2600" dirty="0"/>
          </a:p>
        </p:txBody>
      </p:sp>
      <p:sp>
        <p:nvSpPr>
          <p:cNvPr id="3" name="Text 1"/>
          <p:cNvSpPr txBox="1"/>
          <p:nvPr/>
        </p:nvSpPr>
        <p:spPr>
          <a:xfrm>
            <a:off x="457200" y="4800600"/>
            <a:ext cx="8229600" cy="228600"/>
          </a:xfrm>
          <a:prstGeom prst="rect">
            <a:avLst/>
          </a:prstGeom>
          <a:noFill/>
          <a:ln/>
        </p:spPr>
        <p:txBody>
          <a:bodyPr wrap="square" lIns="0" tIns="0" rIns="0" bIns="0" rtlCol="0" anchor="t"/>
          <a:lstStyle/>
          <a:p>
            <a:pPr marL="0" indent="0">
              <a:buNone/>
            </a:pPr>
            <a:endParaRPr lang="en-US" sz="1000" dirty="0"/>
          </a:p>
        </p:txBody>
      </p:sp>
      <p:sp>
        <p:nvSpPr>
          <p:cNvPr id="5" name="Shape 2"/>
          <p:cNvSpPr/>
          <p:nvPr/>
        </p:nvSpPr>
        <p:spPr>
          <a:xfrm>
            <a:off x="640080" y="914400"/>
            <a:ext cx="1097280" cy="365760"/>
          </a:xfrm>
          <a:prstGeom prst="roundRect">
            <a:avLst>
              <a:gd name="adj" fmla="val 15000"/>
            </a:avLst>
          </a:prstGeom>
          <a:solidFill>
            <a:srgbClr val="131C2E"/>
          </a:solidFill>
          <a:ln w="19050">
            <a:solidFill>
              <a:srgbClr val="4ADE80"/>
            </a:solidFill>
            <a:prstDash val="solid"/>
          </a:ln>
        </p:spPr>
      </p:sp>
      <p:sp>
        <p:nvSpPr>
          <p:cNvPr id="6" name="Text 3"/>
          <p:cNvSpPr txBox="1"/>
          <p:nvPr/>
        </p:nvSpPr>
        <p:spPr>
          <a:xfrm>
            <a:off x="640080" y="914400"/>
            <a:ext cx="1097280" cy="36576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Client (h1)</a:t>
            </a:r>
            <a:endParaRPr lang="en-US" sz="1100" dirty="0"/>
          </a:p>
        </p:txBody>
      </p:sp>
      <p:sp>
        <p:nvSpPr>
          <p:cNvPr id="7" name="Shape 4"/>
          <p:cNvSpPr/>
          <p:nvPr/>
        </p:nvSpPr>
        <p:spPr>
          <a:xfrm>
            <a:off x="3931920" y="914400"/>
            <a:ext cx="1097280" cy="365760"/>
          </a:xfrm>
          <a:prstGeom prst="roundRect">
            <a:avLst>
              <a:gd name="adj" fmla="val 15000"/>
            </a:avLst>
          </a:prstGeom>
          <a:solidFill>
            <a:srgbClr val="131C2E"/>
          </a:solidFill>
          <a:ln w="19050">
            <a:solidFill>
              <a:srgbClr val="FBBF24"/>
            </a:solidFill>
            <a:prstDash val="solid"/>
          </a:ln>
        </p:spPr>
      </p:sp>
      <p:sp>
        <p:nvSpPr>
          <p:cNvPr id="8" name="Text 5"/>
          <p:cNvSpPr txBox="1"/>
          <p:nvPr/>
        </p:nvSpPr>
        <p:spPr>
          <a:xfrm>
            <a:off x="3931920" y="914400"/>
            <a:ext cx="1097280" cy="36576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Server (h3:9000)</a:t>
            </a:r>
            <a:endParaRPr lang="en-US" sz="1100" dirty="0"/>
          </a:p>
        </p:txBody>
      </p:sp>
      <p:sp>
        <p:nvSpPr>
          <p:cNvPr id="9" name="Shape 6"/>
          <p:cNvSpPr/>
          <p:nvPr/>
        </p:nvSpPr>
        <p:spPr>
          <a:xfrm>
            <a:off x="1188720" y="1280160"/>
            <a:ext cx="0" cy="3383280"/>
          </a:xfrm>
          <a:prstGeom prst="line">
            <a:avLst/>
          </a:prstGeom>
          <a:noFill/>
          <a:ln w="12700">
            <a:solidFill>
              <a:srgbClr val="475569"/>
            </a:solidFill>
            <a:prstDash val="dash"/>
          </a:ln>
        </p:spPr>
      </p:sp>
      <p:sp>
        <p:nvSpPr>
          <p:cNvPr id="10" name="Shape 7"/>
          <p:cNvSpPr/>
          <p:nvPr/>
        </p:nvSpPr>
        <p:spPr>
          <a:xfrm>
            <a:off x="4480560" y="1280160"/>
            <a:ext cx="0" cy="3383280"/>
          </a:xfrm>
          <a:prstGeom prst="line">
            <a:avLst/>
          </a:prstGeom>
          <a:noFill/>
          <a:ln w="12700">
            <a:solidFill>
              <a:srgbClr val="475569"/>
            </a:solidFill>
            <a:prstDash val="dash"/>
          </a:ln>
        </p:spPr>
      </p:sp>
      <p:sp>
        <p:nvSpPr>
          <p:cNvPr id="11" name="Shape 8"/>
          <p:cNvSpPr/>
          <p:nvPr/>
        </p:nvSpPr>
        <p:spPr>
          <a:xfrm>
            <a:off x="1188720" y="1691640"/>
            <a:ext cx="3291840" cy="0"/>
          </a:xfrm>
          <a:prstGeom prst="line">
            <a:avLst/>
          </a:prstGeom>
          <a:noFill/>
          <a:ln w="19050">
            <a:solidFill>
              <a:srgbClr val="22D3EE"/>
            </a:solidFill>
            <a:prstDash val="solid"/>
            <a:tailEnd type="triangle"/>
          </a:ln>
        </p:spPr>
      </p:sp>
      <p:sp>
        <p:nvSpPr>
          <p:cNvPr id="12" name="Text 9"/>
          <p:cNvSpPr txBox="1"/>
          <p:nvPr/>
        </p:nvSpPr>
        <p:spPr>
          <a:xfrm>
            <a:off x="1280160" y="1490472"/>
            <a:ext cx="3108960" cy="182880"/>
          </a:xfrm>
          <a:prstGeom prst="rect">
            <a:avLst/>
          </a:prstGeom>
          <a:noFill/>
          <a:ln/>
        </p:spPr>
        <p:txBody>
          <a:bodyPr wrap="square" lIns="0" tIns="0" rIns="0" bIns="0" rtlCol="0" anchor="t"/>
          <a:lstStyle/>
          <a:p>
            <a:pPr marL="0" indent="0" algn="ctr">
              <a:buNone/>
            </a:pPr>
            <a:r>
              <a:rPr lang="en-US" sz="1000" dirty="0">
                <a:solidFill>
                  <a:srgbClr val="E5E7EB"/>
                </a:solidFill>
                <a:latin typeface="Calibri" pitchFamily="34" charset="0"/>
                <a:ea typeface="Calibri" pitchFamily="34" charset="-122"/>
                <a:cs typeface="Calibri" pitchFamily="34" charset="-120"/>
              </a:rPr>
              <a:t>connect() / accept(): 3-way handshake</a:t>
            </a:r>
            <a:endParaRPr lang="en-US" sz="1000" dirty="0"/>
          </a:p>
        </p:txBody>
      </p:sp>
      <p:sp>
        <p:nvSpPr>
          <p:cNvPr id="13" name="Shape 10"/>
          <p:cNvSpPr/>
          <p:nvPr/>
        </p:nvSpPr>
        <p:spPr>
          <a:xfrm>
            <a:off x="1188720" y="2057400"/>
            <a:ext cx="3291840" cy="0"/>
          </a:xfrm>
          <a:prstGeom prst="line">
            <a:avLst/>
          </a:prstGeom>
          <a:noFill/>
          <a:ln w="19050">
            <a:solidFill>
              <a:srgbClr val="22D3EE"/>
            </a:solidFill>
            <a:prstDash val="solid"/>
            <a:tailEnd type="triangle"/>
          </a:ln>
        </p:spPr>
      </p:sp>
      <p:sp>
        <p:nvSpPr>
          <p:cNvPr id="14" name="Text 11"/>
          <p:cNvSpPr txBox="1"/>
          <p:nvPr/>
        </p:nvSpPr>
        <p:spPr>
          <a:xfrm>
            <a:off x="1280160" y="1856232"/>
            <a:ext cx="3108960" cy="182880"/>
          </a:xfrm>
          <a:prstGeom prst="rect">
            <a:avLst/>
          </a:prstGeom>
          <a:noFill/>
          <a:ln/>
        </p:spPr>
        <p:txBody>
          <a:bodyPr wrap="square" lIns="0" tIns="0" rIns="0" bIns="0" rtlCol="0" anchor="t"/>
          <a:lstStyle/>
          <a:p>
            <a:pPr marL="0" indent="0" algn="ctr">
              <a:buNone/>
            </a:pPr>
            <a:r>
              <a:rPr lang="en-US" sz="1000" dirty="0">
                <a:solidFill>
                  <a:srgbClr val="E5E7EB"/>
                </a:solidFill>
                <a:latin typeface="Calibri" pitchFamily="34" charset="0"/>
                <a:ea typeface="Calibri" pitchFamily="34" charset="-122"/>
                <a:cs typeface="Calibri" pitchFamily="34" charset="-120"/>
              </a:rPr>
              <a:t>HELLO (filename, size)</a:t>
            </a:r>
            <a:endParaRPr lang="en-US" sz="1000" dirty="0"/>
          </a:p>
        </p:txBody>
      </p:sp>
      <p:sp>
        <p:nvSpPr>
          <p:cNvPr id="15" name="Shape 12"/>
          <p:cNvSpPr/>
          <p:nvPr/>
        </p:nvSpPr>
        <p:spPr>
          <a:xfrm flipH="1">
            <a:off x="1188720" y="2377440"/>
            <a:ext cx="3291840" cy="0"/>
          </a:xfrm>
          <a:prstGeom prst="line">
            <a:avLst/>
          </a:prstGeom>
          <a:noFill/>
          <a:ln w="19050">
            <a:solidFill>
              <a:srgbClr val="A78BFA"/>
            </a:solidFill>
            <a:prstDash val="solid"/>
            <a:tailEnd type="triangle"/>
          </a:ln>
        </p:spPr>
      </p:sp>
      <p:sp>
        <p:nvSpPr>
          <p:cNvPr id="16" name="Text 13"/>
          <p:cNvSpPr txBox="1"/>
          <p:nvPr/>
        </p:nvSpPr>
        <p:spPr>
          <a:xfrm>
            <a:off x="1280160" y="2176272"/>
            <a:ext cx="3108960" cy="182880"/>
          </a:xfrm>
          <a:prstGeom prst="rect">
            <a:avLst/>
          </a:prstGeom>
          <a:noFill/>
          <a:ln/>
        </p:spPr>
        <p:txBody>
          <a:bodyPr wrap="square" lIns="0" tIns="0" rIns="0" bIns="0" rtlCol="0" anchor="t"/>
          <a:lstStyle/>
          <a:p>
            <a:pPr marL="0" indent="0" algn="ctr">
              <a:buNone/>
            </a:pPr>
            <a:r>
              <a:rPr lang="en-US" sz="1000" dirty="0">
                <a:solidFill>
                  <a:srgbClr val="E5E7EB"/>
                </a:solidFill>
                <a:latin typeface="Calibri" pitchFamily="34" charset="0"/>
                <a:ea typeface="Calibri" pitchFamily="34" charset="-122"/>
                <a:cs typeface="Calibri" pitchFamily="34" charset="-120"/>
              </a:rPr>
              <a:t>ACK (ready)</a:t>
            </a:r>
            <a:endParaRPr lang="en-US" sz="1000" dirty="0"/>
          </a:p>
        </p:txBody>
      </p:sp>
      <p:sp>
        <p:nvSpPr>
          <p:cNvPr id="17" name="Shape 14"/>
          <p:cNvSpPr/>
          <p:nvPr/>
        </p:nvSpPr>
        <p:spPr>
          <a:xfrm>
            <a:off x="1188720" y="2697480"/>
            <a:ext cx="3291840" cy="0"/>
          </a:xfrm>
          <a:prstGeom prst="line">
            <a:avLst/>
          </a:prstGeom>
          <a:noFill/>
          <a:ln w="19050">
            <a:solidFill>
              <a:srgbClr val="22D3EE"/>
            </a:solidFill>
            <a:prstDash val="solid"/>
            <a:tailEnd type="triangle"/>
          </a:ln>
        </p:spPr>
      </p:sp>
      <p:sp>
        <p:nvSpPr>
          <p:cNvPr id="18" name="Text 15"/>
          <p:cNvSpPr txBox="1"/>
          <p:nvPr/>
        </p:nvSpPr>
        <p:spPr>
          <a:xfrm>
            <a:off x="1280160" y="2496312"/>
            <a:ext cx="3108960" cy="182880"/>
          </a:xfrm>
          <a:prstGeom prst="rect">
            <a:avLst/>
          </a:prstGeom>
          <a:noFill/>
          <a:ln/>
        </p:spPr>
        <p:txBody>
          <a:bodyPr wrap="square" lIns="0" tIns="0" rIns="0" bIns="0" rtlCol="0" anchor="t"/>
          <a:lstStyle/>
          <a:p>
            <a:pPr marL="0" indent="0" algn="ctr">
              <a:buNone/>
            </a:pPr>
            <a:r>
              <a:rPr lang="en-US" sz="1000" dirty="0">
                <a:solidFill>
                  <a:srgbClr val="E5E7EB"/>
                </a:solidFill>
                <a:latin typeface="Calibri" pitchFamily="34" charset="0"/>
                <a:ea typeface="Calibri" pitchFamily="34" charset="-122"/>
                <a:cs typeface="Calibri" pitchFamily="34" charset="-120"/>
              </a:rPr>
              <a:t>DATA chunk i + CRC32</a:t>
            </a:r>
            <a:endParaRPr lang="en-US" sz="1000" dirty="0"/>
          </a:p>
        </p:txBody>
      </p:sp>
      <p:sp>
        <p:nvSpPr>
          <p:cNvPr id="19" name="Shape 16"/>
          <p:cNvSpPr/>
          <p:nvPr/>
        </p:nvSpPr>
        <p:spPr>
          <a:xfrm flipH="1">
            <a:off x="1188720" y="3017520"/>
            <a:ext cx="3291840" cy="0"/>
          </a:xfrm>
          <a:prstGeom prst="line">
            <a:avLst/>
          </a:prstGeom>
          <a:noFill/>
          <a:ln w="19050">
            <a:solidFill>
              <a:srgbClr val="A78BFA"/>
            </a:solidFill>
            <a:prstDash val="solid"/>
            <a:tailEnd type="triangle"/>
          </a:ln>
        </p:spPr>
      </p:sp>
      <p:sp>
        <p:nvSpPr>
          <p:cNvPr id="20" name="Text 17"/>
          <p:cNvSpPr txBox="1"/>
          <p:nvPr/>
        </p:nvSpPr>
        <p:spPr>
          <a:xfrm>
            <a:off x="1280160" y="2816352"/>
            <a:ext cx="3108960" cy="182880"/>
          </a:xfrm>
          <a:prstGeom prst="rect">
            <a:avLst/>
          </a:prstGeom>
          <a:noFill/>
          <a:ln/>
        </p:spPr>
        <p:txBody>
          <a:bodyPr wrap="square" lIns="0" tIns="0" rIns="0" bIns="0" rtlCol="0" anchor="t"/>
          <a:lstStyle/>
          <a:p>
            <a:pPr marL="0" indent="0" algn="ctr">
              <a:buNone/>
            </a:pPr>
            <a:r>
              <a:rPr lang="en-US" sz="1000" dirty="0">
                <a:solidFill>
                  <a:srgbClr val="E5E7EB"/>
                </a:solidFill>
                <a:latin typeface="Calibri" pitchFamily="34" charset="0"/>
                <a:ea typeface="Calibri" pitchFamily="34" charset="-122"/>
                <a:cs typeface="Calibri" pitchFamily="34" charset="-120"/>
              </a:rPr>
              <a:t>ACK (i)</a:t>
            </a:r>
            <a:endParaRPr lang="en-US" sz="1000" dirty="0"/>
          </a:p>
        </p:txBody>
      </p:sp>
      <p:sp>
        <p:nvSpPr>
          <p:cNvPr id="21" name="Shape 18"/>
          <p:cNvSpPr/>
          <p:nvPr/>
        </p:nvSpPr>
        <p:spPr>
          <a:xfrm>
            <a:off x="1188720" y="3749040"/>
            <a:ext cx="3291840" cy="0"/>
          </a:xfrm>
          <a:prstGeom prst="line">
            <a:avLst/>
          </a:prstGeom>
          <a:noFill/>
          <a:ln w="19050">
            <a:solidFill>
              <a:srgbClr val="22D3EE"/>
            </a:solidFill>
            <a:prstDash val="solid"/>
            <a:tailEnd type="triangle"/>
          </a:ln>
        </p:spPr>
      </p:sp>
      <p:sp>
        <p:nvSpPr>
          <p:cNvPr id="22" name="Text 19"/>
          <p:cNvSpPr txBox="1"/>
          <p:nvPr/>
        </p:nvSpPr>
        <p:spPr>
          <a:xfrm>
            <a:off x="1280160" y="3547872"/>
            <a:ext cx="3108960" cy="182880"/>
          </a:xfrm>
          <a:prstGeom prst="rect">
            <a:avLst/>
          </a:prstGeom>
          <a:noFill/>
          <a:ln/>
        </p:spPr>
        <p:txBody>
          <a:bodyPr wrap="square" lIns="0" tIns="0" rIns="0" bIns="0" rtlCol="0" anchor="t"/>
          <a:lstStyle/>
          <a:p>
            <a:pPr marL="0" indent="0" algn="ctr">
              <a:buNone/>
            </a:pPr>
            <a:r>
              <a:rPr lang="en-US" sz="1000" dirty="0">
                <a:solidFill>
                  <a:srgbClr val="E5E7EB"/>
                </a:solidFill>
                <a:latin typeface="Calibri" pitchFamily="34" charset="0"/>
                <a:ea typeface="Calibri" pitchFamily="34" charset="-122"/>
                <a:cs typeface="Calibri" pitchFamily="34" charset="-120"/>
              </a:rPr>
              <a:t>RESUME (last_ack)</a:t>
            </a:r>
            <a:endParaRPr lang="en-US" sz="1000" dirty="0"/>
          </a:p>
        </p:txBody>
      </p:sp>
      <p:sp>
        <p:nvSpPr>
          <p:cNvPr id="23" name="Shape 20"/>
          <p:cNvSpPr/>
          <p:nvPr/>
        </p:nvSpPr>
        <p:spPr>
          <a:xfrm flipH="1">
            <a:off x="1188720" y="4069080"/>
            <a:ext cx="3291840" cy="0"/>
          </a:xfrm>
          <a:prstGeom prst="line">
            <a:avLst/>
          </a:prstGeom>
          <a:noFill/>
          <a:ln w="19050">
            <a:solidFill>
              <a:srgbClr val="A78BFA"/>
            </a:solidFill>
            <a:prstDash val="solid"/>
            <a:tailEnd type="triangle"/>
          </a:ln>
        </p:spPr>
      </p:sp>
      <p:sp>
        <p:nvSpPr>
          <p:cNvPr id="24" name="Text 21"/>
          <p:cNvSpPr txBox="1"/>
          <p:nvPr/>
        </p:nvSpPr>
        <p:spPr>
          <a:xfrm>
            <a:off x="1280160" y="3867912"/>
            <a:ext cx="3108960" cy="182880"/>
          </a:xfrm>
          <a:prstGeom prst="rect">
            <a:avLst/>
          </a:prstGeom>
          <a:noFill/>
          <a:ln/>
        </p:spPr>
        <p:txBody>
          <a:bodyPr wrap="square" lIns="0" tIns="0" rIns="0" bIns="0" rtlCol="0" anchor="t"/>
          <a:lstStyle/>
          <a:p>
            <a:pPr marL="0" indent="0" algn="ctr">
              <a:buNone/>
            </a:pPr>
            <a:r>
              <a:rPr lang="en-US" sz="1000" dirty="0">
                <a:solidFill>
                  <a:srgbClr val="E5E7EB"/>
                </a:solidFill>
                <a:latin typeface="Calibri" pitchFamily="34" charset="0"/>
                <a:ea typeface="Calibri" pitchFamily="34" charset="-122"/>
                <a:cs typeface="Calibri" pitchFamily="34" charset="-120"/>
              </a:rPr>
              <a:t>ACK (resume from i+1)</a:t>
            </a:r>
            <a:endParaRPr lang="en-US" sz="1000" dirty="0"/>
          </a:p>
        </p:txBody>
      </p:sp>
      <p:sp>
        <p:nvSpPr>
          <p:cNvPr id="25" name="Text 22"/>
          <p:cNvSpPr txBox="1"/>
          <p:nvPr/>
        </p:nvSpPr>
        <p:spPr>
          <a:xfrm>
            <a:off x="1280160" y="3337560"/>
            <a:ext cx="3108960" cy="228600"/>
          </a:xfrm>
          <a:prstGeom prst="rect">
            <a:avLst/>
          </a:prstGeom>
          <a:noFill/>
          <a:ln/>
        </p:spPr>
        <p:txBody>
          <a:bodyPr wrap="square" lIns="0" tIns="0" rIns="0" bIns="0" rtlCol="0" anchor="t"/>
          <a:lstStyle/>
          <a:p>
            <a:pPr marL="0" indent="0" algn="ctr">
              <a:buNone/>
            </a:pPr>
            <a:r>
              <a:rPr lang="en-US" sz="1100" b="1" dirty="0">
                <a:solidFill>
                  <a:srgbClr val="FBBF24"/>
                </a:solidFill>
                <a:latin typeface="Calibri" pitchFamily="34" charset="0"/>
                <a:ea typeface="Calibri" pitchFamily="34" charset="-122"/>
                <a:cs typeface="Calibri" pitchFamily="34" charset="-120"/>
              </a:rPr>
              <a:t>connection drops</a:t>
            </a:r>
            <a:endParaRPr lang="en-US" sz="1100" dirty="0"/>
          </a:p>
        </p:txBody>
      </p:sp>
      <p:sp>
        <p:nvSpPr>
          <p:cNvPr id="26" name="Text 23"/>
          <p:cNvSpPr txBox="1"/>
          <p:nvPr/>
        </p:nvSpPr>
        <p:spPr>
          <a:xfrm>
            <a:off x="1280160" y="4389120"/>
            <a:ext cx="3108960" cy="182880"/>
          </a:xfrm>
          <a:prstGeom prst="rect">
            <a:avLst/>
          </a:prstGeom>
          <a:noFill/>
          <a:ln/>
        </p:spPr>
        <p:txBody>
          <a:bodyPr wrap="square" lIns="0" tIns="0" rIns="0" bIns="0" rtlCol="0" anchor="t"/>
          <a:lstStyle/>
          <a:p>
            <a:pPr marL="0" indent="0" algn="ctr">
              <a:buNone/>
            </a:pPr>
            <a:r>
              <a:rPr lang="en-US" sz="1000" dirty="0">
                <a:solidFill>
                  <a:srgbClr val="94A3B8"/>
                </a:solidFill>
                <a:latin typeface="Calibri" pitchFamily="34" charset="0"/>
                <a:ea typeface="Calibri" pitchFamily="34" charset="-122"/>
                <a:cs typeface="Calibri" pitchFamily="34" charset="-120"/>
              </a:rPr>
              <a:t>close(): FIN exchange</a:t>
            </a:r>
            <a:endParaRPr lang="en-US" sz="1000" dirty="0"/>
          </a:p>
        </p:txBody>
      </p:sp>
      <p:sp>
        <p:nvSpPr>
          <p:cNvPr id="27" name="Shape 24"/>
          <p:cNvSpPr/>
          <p:nvPr/>
        </p:nvSpPr>
        <p:spPr>
          <a:xfrm>
            <a:off x="5577840" y="914400"/>
            <a:ext cx="3108960" cy="1600200"/>
          </a:xfrm>
          <a:prstGeom prst="roundRect">
            <a:avLst>
              <a:gd name="adj" fmla="val 4571"/>
            </a:avLst>
          </a:prstGeom>
          <a:solidFill>
            <a:srgbClr val="131C2E"/>
          </a:solidFill>
          <a:ln w="12700">
            <a:solidFill>
              <a:srgbClr val="22D3EE"/>
            </a:solidFill>
            <a:prstDash val="solid"/>
          </a:ln>
        </p:spPr>
      </p:sp>
      <p:sp>
        <p:nvSpPr>
          <p:cNvPr id="28" name="Text 25"/>
          <p:cNvSpPr txBox="1"/>
          <p:nvPr/>
        </p:nvSpPr>
        <p:spPr>
          <a:xfrm>
            <a:off x="5715000" y="1005840"/>
            <a:ext cx="2834640" cy="274320"/>
          </a:xfrm>
          <a:prstGeom prst="rect">
            <a:avLst/>
          </a:prstGeom>
          <a:noFill/>
          <a:ln/>
        </p:spPr>
        <p:txBody>
          <a:bodyPr wrap="square" lIns="0" tIns="0" rIns="0" bIns="0" rtlCol="0" anchor="t"/>
          <a:lstStyle/>
          <a:p>
            <a:pPr marL="0" indent="0">
              <a:buNone/>
            </a:pPr>
            <a:r>
              <a:rPr lang="en-US" sz="1400" b="1" dirty="0">
                <a:solidFill>
                  <a:srgbClr val="22D3EE"/>
                </a:solidFill>
                <a:latin typeface="Calibri" pitchFamily="34" charset="0"/>
                <a:ea typeface="Calibri" pitchFamily="34" charset="-122"/>
                <a:cs typeface="Calibri" pitchFamily="34" charset="-120"/>
              </a:rPr>
              <a:t>Socket flow (confirm in source)</a:t>
            </a:r>
            <a:endParaRPr lang="en-US" sz="1400" dirty="0"/>
          </a:p>
        </p:txBody>
      </p:sp>
      <p:sp>
        <p:nvSpPr>
          <p:cNvPr id="29" name="Text 26"/>
          <p:cNvSpPr txBox="1"/>
          <p:nvPr/>
        </p:nvSpPr>
        <p:spPr>
          <a:xfrm>
            <a:off x="5715000" y="1325880"/>
            <a:ext cx="2834640" cy="10972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Server: socket, bind :9000, listen, accept; one thread per client</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Client: socket, connect, send/recv</a:t>
            </a:r>
            <a:endParaRPr lang="en-US" sz="1200" dirty="0"/>
          </a:p>
        </p:txBody>
      </p:sp>
      <p:sp>
        <p:nvSpPr>
          <p:cNvPr id="30" name="Shape 27"/>
          <p:cNvSpPr/>
          <p:nvPr/>
        </p:nvSpPr>
        <p:spPr>
          <a:xfrm>
            <a:off x="5577840" y="2697480"/>
            <a:ext cx="3108960" cy="1920240"/>
          </a:xfrm>
          <a:prstGeom prst="roundRect">
            <a:avLst>
              <a:gd name="adj" fmla="val 3810"/>
            </a:avLst>
          </a:prstGeom>
          <a:solidFill>
            <a:srgbClr val="131C2E"/>
          </a:solidFill>
          <a:ln w="12700">
            <a:solidFill>
              <a:srgbClr val="A78BFA"/>
            </a:solidFill>
            <a:prstDash val="solid"/>
          </a:ln>
        </p:spPr>
      </p:sp>
      <p:sp>
        <p:nvSpPr>
          <p:cNvPr id="31" name="Text 28"/>
          <p:cNvSpPr txBox="1"/>
          <p:nvPr/>
        </p:nvSpPr>
        <p:spPr>
          <a:xfrm>
            <a:off x="5715000" y="2788920"/>
            <a:ext cx="2834640" cy="274320"/>
          </a:xfrm>
          <a:prstGeom prst="rect">
            <a:avLst/>
          </a:prstGeom>
          <a:noFill/>
          <a:ln/>
        </p:spPr>
        <p:txBody>
          <a:bodyPr wrap="square" lIns="0" tIns="0" rIns="0" bIns="0" rtlCol="0" anchor="t"/>
          <a:lstStyle/>
          <a:p>
            <a:pPr marL="0" indent="0">
              <a:buNone/>
            </a:pPr>
            <a:r>
              <a:rPr lang="en-US" sz="1400" b="1" dirty="0">
                <a:solidFill>
                  <a:srgbClr val="A78BFA"/>
                </a:solidFill>
                <a:latin typeface="Calibri" pitchFamily="34" charset="0"/>
                <a:ea typeface="Calibri" pitchFamily="34" charset="-122"/>
                <a:cs typeface="Calibri" pitchFamily="34" charset="-120"/>
              </a:rPr>
              <a:t>TCP ACK is not an app ACK</a:t>
            </a:r>
            <a:endParaRPr lang="en-US" sz="1400" dirty="0"/>
          </a:p>
        </p:txBody>
      </p:sp>
      <p:sp>
        <p:nvSpPr>
          <p:cNvPr id="32" name="Text 29"/>
          <p:cNvSpPr txBox="1"/>
          <p:nvPr/>
        </p:nvSpPr>
        <p:spPr>
          <a:xfrm>
            <a:off x="5715000" y="3108960"/>
            <a:ext cx="2834640" cy="14173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TCP ACK: kernel received the bytes</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App ACK (0x02): chunk passed CRC32 and was stored</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Only the app ACK drives RESUME</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a:extLst>
            <a:ext uri="{FF2B5EF4-FFF2-40B4-BE49-F238E27FC236}">
              <a16:creationId xmlns:a16="http://schemas.microsoft.com/office/drawing/2014/main" id="{1A2FA8F5-15CD-A31B-2055-5882266339AA}"/>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644EA72E-F176-D409-967F-070E307371F8}"/>
              </a:ext>
            </a:extLst>
          </p:cNvPr>
          <p:cNvPicPr>
            <a:picLocks noChangeAspect="1"/>
          </p:cNvPicPr>
          <p:nvPr/>
        </p:nvPicPr>
        <p:blipFill>
          <a:blip r:embed="rId3"/>
          <a:stretch>
            <a:fillRect/>
          </a:stretch>
        </p:blipFill>
        <p:spPr>
          <a:xfrm>
            <a:off x="24694" y="101084"/>
            <a:ext cx="9119306" cy="4709312"/>
          </a:xfrm>
          <a:prstGeom prst="rect">
            <a:avLst/>
          </a:prstGeom>
        </p:spPr>
      </p:pic>
    </p:spTree>
    <p:extLst>
      <p:ext uri="{BB962C8B-B14F-4D97-AF65-F5344CB8AC3E}">
        <p14:creationId xmlns:p14="http://schemas.microsoft.com/office/powerpoint/2010/main" val="1468838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02920"/>
          </a:xfrm>
          <a:prstGeom prst="rect">
            <a:avLst/>
          </a:prstGeom>
          <a:noFill/>
          <a:ln/>
        </p:spPr>
        <p:txBody>
          <a:bodyPr wrap="square" lIns="0" tIns="0" rIns="0" bIns="0" rtlCol="0" anchor="ctr"/>
          <a:lstStyle/>
          <a:p>
            <a:pPr marL="0" indent="0">
              <a:buNone/>
            </a:pPr>
            <a:r>
              <a:rPr lang="en-US" sz="2600" b="1" dirty="0">
                <a:solidFill>
                  <a:srgbClr val="E5E7EB"/>
                </a:solidFill>
                <a:latin typeface="Calibri" pitchFamily="34" charset="0"/>
                <a:ea typeface="Calibri" pitchFamily="34" charset="-122"/>
                <a:cs typeface="Calibri" pitchFamily="34" charset="-120"/>
              </a:rPr>
              <a:t>File Backup Protocol and Integrity</a:t>
            </a:r>
            <a:endParaRPr lang="en-US" sz="2600" dirty="0"/>
          </a:p>
        </p:txBody>
      </p:sp>
      <p:sp>
        <p:nvSpPr>
          <p:cNvPr id="3" name="Text 1"/>
          <p:cNvSpPr txBox="1"/>
          <p:nvPr/>
        </p:nvSpPr>
        <p:spPr>
          <a:xfrm>
            <a:off x="457200" y="4800600"/>
            <a:ext cx="8229600" cy="228600"/>
          </a:xfrm>
          <a:prstGeom prst="rect">
            <a:avLst/>
          </a:prstGeom>
          <a:noFill/>
          <a:ln/>
        </p:spPr>
        <p:txBody>
          <a:bodyPr wrap="square" lIns="0" tIns="0" rIns="0" bIns="0" rtlCol="0" anchor="t"/>
          <a:lstStyle/>
          <a:p>
            <a:pPr marL="0" indent="0">
              <a:buNone/>
            </a:pPr>
            <a:endParaRPr lang="en-US" sz="1000" dirty="0"/>
          </a:p>
        </p:txBody>
      </p:sp>
      <p:sp>
        <p:nvSpPr>
          <p:cNvPr id="5" name="Shape 2"/>
          <p:cNvSpPr/>
          <p:nvPr/>
        </p:nvSpPr>
        <p:spPr>
          <a:xfrm>
            <a:off x="457200" y="914400"/>
            <a:ext cx="868680" cy="548640"/>
          </a:xfrm>
          <a:prstGeom prst="roundRect">
            <a:avLst>
              <a:gd name="adj" fmla="val 10000"/>
            </a:avLst>
          </a:prstGeom>
          <a:solidFill>
            <a:srgbClr val="131C2E"/>
          </a:solidFill>
          <a:ln w="19050">
            <a:solidFill>
              <a:srgbClr val="22D3EE"/>
            </a:solidFill>
            <a:prstDash val="solid"/>
          </a:ln>
        </p:spPr>
      </p:sp>
      <p:sp>
        <p:nvSpPr>
          <p:cNvPr id="6" name="Text 3"/>
          <p:cNvSpPr txBox="1"/>
          <p:nvPr/>
        </p:nvSpPr>
        <p:spPr>
          <a:xfrm>
            <a:off x="457200" y="914400"/>
            <a:ext cx="868680" cy="54864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magic</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4 B</a:t>
            </a:r>
            <a:endParaRPr lang="en-US" sz="1100" dirty="0"/>
          </a:p>
        </p:txBody>
      </p:sp>
      <p:sp>
        <p:nvSpPr>
          <p:cNvPr id="7" name="Shape 4"/>
          <p:cNvSpPr/>
          <p:nvPr/>
        </p:nvSpPr>
        <p:spPr>
          <a:xfrm>
            <a:off x="1371600" y="914400"/>
            <a:ext cx="594360" cy="548640"/>
          </a:xfrm>
          <a:prstGeom prst="roundRect">
            <a:avLst>
              <a:gd name="adj" fmla="val 10000"/>
            </a:avLst>
          </a:prstGeom>
          <a:solidFill>
            <a:srgbClr val="131C2E"/>
          </a:solidFill>
          <a:ln w="19050">
            <a:solidFill>
              <a:srgbClr val="22D3EE"/>
            </a:solidFill>
            <a:prstDash val="solid"/>
          </a:ln>
        </p:spPr>
      </p:sp>
      <p:sp>
        <p:nvSpPr>
          <p:cNvPr id="8" name="Text 5"/>
          <p:cNvSpPr txBox="1"/>
          <p:nvPr/>
        </p:nvSpPr>
        <p:spPr>
          <a:xfrm>
            <a:off x="1371600" y="914400"/>
            <a:ext cx="594360" cy="54864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type</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1 B</a:t>
            </a:r>
            <a:endParaRPr lang="en-US" sz="1100" dirty="0"/>
          </a:p>
        </p:txBody>
      </p:sp>
      <p:sp>
        <p:nvSpPr>
          <p:cNvPr id="9" name="Shape 6"/>
          <p:cNvSpPr/>
          <p:nvPr/>
        </p:nvSpPr>
        <p:spPr>
          <a:xfrm>
            <a:off x="2011680" y="914400"/>
            <a:ext cx="868680" cy="548640"/>
          </a:xfrm>
          <a:prstGeom prst="roundRect">
            <a:avLst>
              <a:gd name="adj" fmla="val 10000"/>
            </a:avLst>
          </a:prstGeom>
          <a:solidFill>
            <a:srgbClr val="131C2E"/>
          </a:solidFill>
          <a:ln w="19050">
            <a:solidFill>
              <a:srgbClr val="22D3EE"/>
            </a:solidFill>
            <a:prstDash val="solid"/>
          </a:ln>
        </p:spPr>
      </p:sp>
      <p:sp>
        <p:nvSpPr>
          <p:cNvPr id="10" name="Text 7"/>
          <p:cNvSpPr txBox="1"/>
          <p:nvPr/>
        </p:nvSpPr>
        <p:spPr>
          <a:xfrm>
            <a:off x="2011680" y="914400"/>
            <a:ext cx="868680" cy="54864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index</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4 B</a:t>
            </a:r>
            <a:endParaRPr lang="en-US" sz="1100" dirty="0"/>
          </a:p>
        </p:txBody>
      </p:sp>
      <p:sp>
        <p:nvSpPr>
          <p:cNvPr id="11" name="Shape 8"/>
          <p:cNvSpPr/>
          <p:nvPr/>
        </p:nvSpPr>
        <p:spPr>
          <a:xfrm>
            <a:off x="2926080" y="914400"/>
            <a:ext cx="1143000" cy="548640"/>
          </a:xfrm>
          <a:prstGeom prst="roundRect">
            <a:avLst>
              <a:gd name="adj" fmla="val 10000"/>
            </a:avLst>
          </a:prstGeom>
          <a:solidFill>
            <a:srgbClr val="131C2E"/>
          </a:solidFill>
          <a:ln w="19050">
            <a:solidFill>
              <a:srgbClr val="22D3EE"/>
            </a:solidFill>
            <a:prstDash val="solid"/>
          </a:ln>
        </p:spPr>
      </p:sp>
      <p:sp>
        <p:nvSpPr>
          <p:cNvPr id="12" name="Text 9"/>
          <p:cNvSpPr txBox="1"/>
          <p:nvPr/>
        </p:nvSpPr>
        <p:spPr>
          <a:xfrm>
            <a:off x="2926080" y="914400"/>
            <a:ext cx="1143000" cy="54864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total_chunks</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4 B</a:t>
            </a:r>
            <a:endParaRPr lang="en-US" sz="1100" dirty="0"/>
          </a:p>
        </p:txBody>
      </p:sp>
      <p:sp>
        <p:nvSpPr>
          <p:cNvPr id="13" name="Shape 10"/>
          <p:cNvSpPr/>
          <p:nvPr/>
        </p:nvSpPr>
        <p:spPr>
          <a:xfrm>
            <a:off x="4114800" y="914400"/>
            <a:ext cx="868680" cy="548640"/>
          </a:xfrm>
          <a:prstGeom prst="roundRect">
            <a:avLst>
              <a:gd name="adj" fmla="val 10000"/>
            </a:avLst>
          </a:prstGeom>
          <a:solidFill>
            <a:srgbClr val="131C2E"/>
          </a:solidFill>
          <a:ln w="19050">
            <a:solidFill>
              <a:srgbClr val="22D3EE"/>
            </a:solidFill>
            <a:prstDash val="solid"/>
          </a:ln>
        </p:spPr>
      </p:sp>
      <p:sp>
        <p:nvSpPr>
          <p:cNvPr id="14" name="Text 11"/>
          <p:cNvSpPr txBox="1"/>
          <p:nvPr/>
        </p:nvSpPr>
        <p:spPr>
          <a:xfrm>
            <a:off x="4114800" y="914400"/>
            <a:ext cx="868680" cy="54864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CRC32</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4 B</a:t>
            </a:r>
            <a:endParaRPr lang="en-US" sz="1100" dirty="0"/>
          </a:p>
        </p:txBody>
      </p:sp>
      <p:sp>
        <p:nvSpPr>
          <p:cNvPr id="15" name="Shape 12"/>
          <p:cNvSpPr/>
          <p:nvPr/>
        </p:nvSpPr>
        <p:spPr>
          <a:xfrm>
            <a:off x="5029200" y="914400"/>
            <a:ext cx="868680" cy="548640"/>
          </a:xfrm>
          <a:prstGeom prst="roundRect">
            <a:avLst>
              <a:gd name="adj" fmla="val 10000"/>
            </a:avLst>
          </a:prstGeom>
          <a:solidFill>
            <a:srgbClr val="131C2E"/>
          </a:solidFill>
          <a:ln w="19050">
            <a:solidFill>
              <a:srgbClr val="22D3EE"/>
            </a:solidFill>
            <a:prstDash val="solid"/>
          </a:ln>
        </p:spPr>
      </p:sp>
      <p:sp>
        <p:nvSpPr>
          <p:cNvPr id="16" name="Text 13"/>
          <p:cNvSpPr txBox="1"/>
          <p:nvPr/>
        </p:nvSpPr>
        <p:spPr>
          <a:xfrm>
            <a:off x="5029200" y="914400"/>
            <a:ext cx="868680" cy="54864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data_len</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4 B</a:t>
            </a:r>
            <a:endParaRPr lang="en-US" sz="1100" dirty="0"/>
          </a:p>
        </p:txBody>
      </p:sp>
      <p:sp>
        <p:nvSpPr>
          <p:cNvPr id="17" name="Shape 14"/>
          <p:cNvSpPr/>
          <p:nvPr/>
        </p:nvSpPr>
        <p:spPr>
          <a:xfrm>
            <a:off x="5943600" y="914400"/>
            <a:ext cx="1783080" cy="548640"/>
          </a:xfrm>
          <a:prstGeom prst="roundRect">
            <a:avLst>
              <a:gd name="adj" fmla="val 10000"/>
            </a:avLst>
          </a:prstGeom>
          <a:solidFill>
            <a:srgbClr val="131C2E"/>
          </a:solidFill>
          <a:ln w="19050">
            <a:solidFill>
              <a:srgbClr val="A78BFA"/>
            </a:solidFill>
            <a:prstDash val="solid"/>
          </a:ln>
        </p:spPr>
      </p:sp>
      <p:sp>
        <p:nvSpPr>
          <p:cNvPr id="18" name="Text 15"/>
          <p:cNvSpPr txBox="1"/>
          <p:nvPr/>
        </p:nvSpPr>
        <p:spPr>
          <a:xfrm>
            <a:off x="5943600" y="914400"/>
            <a:ext cx="1783080" cy="54864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payload</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up to 8 KB</a:t>
            </a:r>
            <a:endParaRPr lang="en-US" sz="1100" dirty="0"/>
          </a:p>
        </p:txBody>
      </p:sp>
      <p:sp>
        <p:nvSpPr>
          <p:cNvPr id="19" name="Shape 16"/>
          <p:cNvSpPr/>
          <p:nvPr/>
        </p:nvSpPr>
        <p:spPr>
          <a:xfrm>
            <a:off x="457200" y="1828800"/>
            <a:ext cx="1417320" cy="685800"/>
          </a:xfrm>
          <a:prstGeom prst="roundRect">
            <a:avLst>
              <a:gd name="adj" fmla="val 8000"/>
            </a:avLst>
          </a:prstGeom>
          <a:solidFill>
            <a:srgbClr val="131C2E"/>
          </a:solidFill>
          <a:ln w="19050">
            <a:solidFill>
              <a:srgbClr val="22D3EE"/>
            </a:solidFill>
            <a:prstDash val="solid"/>
          </a:ln>
        </p:spPr>
      </p:sp>
      <p:sp>
        <p:nvSpPr>
          <p:cNvPr id="20" name="Text 17"/>
          <p:cNvSpPr txBox="1"/>
          <p:nvPr/>
        </p:nvSpPr>
        <p:spPr>
          <a:xfrm>
            <a:off x="457200" y="1828800"/>
            <a:ext cx="1417320" cy="68580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1024 MB file</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1,31,072 × 8 KB chunks</a:t>
            </a:r>
            <a:endParaRPr lang="en-US" sz="1100" dirty="0"/>
          </a:p>
        </p:txBody>
      </p:sp>
      <p:sp>
        <p:nvSpPr>
          <p:cNvPr id="21" name="Shape 18"/>
          <p:cNvSpPr/>
          <p:nvPr/>
        </p:nvSpPr>
        <p:spPr>
          <a:xfrm>
            <a:off x="1892808" y="2167128"/>
            <a:ext cx="256032" cy="0"/>
          </a:xfrm>
          <a:prstGeom prst="line">
            <a:avLst/>
          </a:prstGeom>
          <a:noFill/>
          <a:ln w="19050">
            <a:solidFill>
              <a:srgbClr val="22D3EE"/>
            </a:solidFill>
            <a:prstDash val="solid"/>
            <a:tailEnd type="triangle"/>
          </a:ln>
        </p:spPr>
      </p:sp>
      <p:sp>
        <p:nvSpPr>
          <p:cNvPr id="22" name="Shape 19"/>
          <p:cNvSpPr/>
          <p:nvPr/>
        </p:nvSpPr>
        <p:spPr>
          <a:xfrm>
            <a:off x="2148840" y="1828800"/>
            <a:ext cx="1417320" cy="685800"/>
          </a:xfrm>
          <a:prstGeom prst="roundRect">
            <a:avLst>
              <a:gd name="adj" fmla="val 8000"/>
            </a:avLst>
          </a:prstGeom>
          <a:solidFill>
            <a:srgbClr val="131C2E"/>
          </a:solidFill>
          <a:ln w="19050">
            <a:solidFill>
              <a:srgbClr val="22D3EE"/>
            </a:solidFill>
            <a:prstDash val="solid"/>
          </a:ln>
        </p:spPr>
      </p:sp>
      <p:sp>
        <p:nvSpPr>
          <p:cNvPr id="23" name="Text 20"/>
          <p:cNvSpPr txBox="1"/>
          <p:nvPr/>
        </p:nvSpPr>
        <p:spPr>
          <a:xfrm>
            <a:off x="2148840" y="1828800"/>
            <a:ext cx="1417320" cy="68580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CRC32 per chunk</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(zlib.crc32)</a:t>
            </a:r>
            <a:endParaRPr lang="en-US" sz="1100" dirty="0"/>
          </a:p>
        </p:txBody>
      </p:sp>
      <p:sp>
        <p:nvSpPr>
          <p:cNvPr id="24" name="Shape 21"/>
          <p:cNvSpPr/>
          <p:nvPr/>
        </p:nvSpPr>
        <p:spPr>
          <a:xfrm>
            <a:off x="3584448" y="2167128"/>
            <a:ext cx="256032" cy="0"/>
          </a:xfrm>
          <a:prstGeom prst="line">
            <a:avLst/>
          </a:prstGeom>
          <a:noFill/>
          <a:ln w="19050">
            <a:solidFill>
              <a:srgbClr val="22D3EE"/>
            </a:solidFill>
            <a:prstDash val="solid"/>
            <a:tailEnd type="triangle"/>
          </a:ln>
        </p:spPr>
      </p:sp>
      <p:sp>
        <p:nvSpPr>
          <p:cNvPr id="25" name="Shape 22"/>
          <p:cNvSpPr/>
          <p:nvPr/>
        </p:nvSpPr>
        <p:spPr>
          <a:xfrm>
            <a:off x="3840480" y="1828800"/>
            <a:ext cx="1417320" cy="685800"/>
          </a:xfrm>
          <a:prstGeom prst="roundRect">
            <a:avLst>
              <a:gd name="adj" fmla="val 8000"/>
            </a:avLst>
          </a:prstGeom>
          <a:solidFill>
            <a:srgbClr val="131C2E"/>
          </a:solidFill>
          <a:ln w="19050">
            <a:solidFill>
              <a:srgbClr val="22D3EE"/>
            </a:solidFill>
            <a:prstDash val="solid"/>
          </a:ln>
        </p:spPr>
      </p:sp>
      <p:sp>
        <p:nvSpPr>
          <p:cNvPr id="26" name="Text 23"/>
          <p:cNvSpPr txBox="1"/>
          <p:nvPr/>
        </p:nvSpPr>
        <p:spPr>
          <a:xfrm>
            <a:off x="3840480" y="1828800"/>
            <a:ext cx="1417320" cy="68580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DATA frame</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over TCP</a:t>
            </a:r>
            <a:endParaRPr lang="en-US" sz="1100" dirty="0"/>
          </a:p>
        </p:txBody>
      </p:sp>
      <p:sp>
        <p:nvSpPr>
          <p:cNvPr id="27" name="Shape 24"/>
          <p:cNvSpPr/>
          <p:nvPr/>
        </p:nvSpPr>
        <p:spPr>
          <a:xfrm>
            <a:off x="5276088" y="2167128"/>
            <a:ext cx="256032" cy="0"/>
          </a:xfrm>
          <a:prstGeom prst="line">
            <a:avLst/>
          </a:prstGeom>
          <a:noFill/>
          <a:ln w="19050">
            <a:solidFill>
              <a:srgbClr val="22D3EE"/>
            </a:solidFill>
            <a:prstDash val="solid"/>
            <a:tailEnd type="triangle"/>
          </a:ln>
        </p:spPr>
      </p:sp>
      <p:sp>
        <p:nvSpPr>
          <p:cNvPr id="28" name="Shape 25"/>
          <p:cNvSpPr/>
          <p:nvPr/>
        </p:nvSpPr>
        <p:spPr>
          <a:xfrm>
            <a:off x="5532120" y="1828800"/>
            <a:ext cx="1417320" cy="685800"/>
          </a:xfrm>
          <a:prstGeom prst="roundRect">
            <a:avLst>
              <a:gd name="adj" fmla="val 8000"/>
            </a:avLst>
          </a:prstGeom>
          <a:solidFill>
            <a:srgbClr val="131C2E"/>
          </a:solidFill>
          <a:ln w="19050">
            <a:solidFill>
              <a:srgbClr val="FBBF24"/>
            </a:solidFill>
            <a:prstDash val="solid"/>
          </a:ln>
        </p:spPr>
      </p:sp>
      <p:sp>
        <p:nvSpPr>
          <p:cNvPr id="29" name="Text 26"/>
          <p:cNvSpPr txBox="1"/>
          <p:nvPr/>
        </p:nvSpPr>
        <p:spPr>
          <a:xfrm>
            <a:off x="5532120" y="1828800"/>
            <a:ext cx="1417320" cy="68580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Server recomputes</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CRC32</a:t>
            </a:r>
            <a:endParaRPr lang="en-US" sz="1100" dirty="0"/>
          </a:p>
        </p:txBody>
      </p:sp>
      <p:sp>
        <p:nvSpPr>
          <p:cNvPr id="30" name="Shape 27"/>
          <p:cNvSpPr/>
          <p:nvPr/>
        </p:nvSpPr>
        <p:spPr>
          <a:xfrm>
            <a:off x="6967728" y="2167128"/>
            <a:ext cx="256032" cy="0"/>
          </a:xfrm>
          <a:prstGeom prst="line">
            <a:avLst/>
          </a:prstGeom>
          <a:noFill/>
          <a:ln w="19050">
            <a:solidFill>
              <a:srgbClr val="22D3EE"/>
            </a:solidFill>
            <a:prstDash val="solid"/>
            <a:tailEnd type="triangle"/>
          </a:ln>
        </p:spPr>
      </p:sp>
      <p:sp>
        <p:nvSpPr>
          <p:cNvPr id="31" name="Shape 28"/>
          <p:cNvSpPr/>
          <p:nvPr/>
        </p:nvSpPr>
        <p:spPr>
          <a:xfrm>
            <a:off x="7223760" y="1828800"/>
            <a:ext cx="1417320" cy="685800"/>
          </a:xfrm>
          <a:prstGeom prst="roundRect">
            <a:avLst>
              <a:gd name="adj" fmla="val 8000"/>
            </a:avLst>
          </a:prstGeom>
          <a:solidFill>
            <a:srgbClr val="131C2E"/>
          </a:solidFill>
          <a:ln w="19050">
            <a:solidFill>
              <a:srgbClr val="22D3EE"/>
            </a:solidFill>
            <a:prstDash val="solid"/>
          </a:ln>
        </p:spPr>
      </p:sp>
      <p:sp>
        <p:nvSpPr>
          <p:cNvPr id="32" name="Text 29"/>
          <p:cNvSpPr txBox="1"/>
          <p:nvPr/>
        </p:nvSpPr>
        <p:spPr>
          <a:xfrm>
            <a:off x="7223760" y="1828800"/>
            <a:ext cx="1417320" cy="68580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Write to disk,</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send ACK(i)</a:t>
            </a:r>
            <a:endParaRPr lang="en-US" sz="1100" dirty="0"/>
          </a:p>
        </p:txBody>
      </p:sp>
      <p:sp>
        <p:nvSpPr>
          <p:cNvPr id="33" name="Shape 30"/>
          <p:cNvSpPr/>
          <p:nvPr/>
        </p:nvSpPr>
        <p:spPr>
          <a:xfrm>
            <a:off x="457200" y="2834640"/>
            <a:ext cx="2651760" cy="1828800"/>
          </a:xfrm>
          <a:prstGeom prst="roundRect">
            <a:avLst>
              <a:gd name="adj" fmla="val 4000"/>
            </a:avLst>
          </a:prstGeom>
          <a:solidFill>
            <a:srgbClr val="131C2E"/>
          </a:solidFill>
          <a:ln w="12700">
            <a:solidFill>
              <a:srgbClr val="22D3EE"/>
            </a:solidFill>
            <a:prstDash val="solid"/>
          </a:ln>
        </p:spPr>
      </p:sp>
      <p:sp>
        <p:nvSpPr>
          <p:cNvPr id="34" name="Text 31"/>
          <p:cNvSpPr txBox="1"/>
          <p:nvPr/>
        </p:nvSpPr>
        <p:spPr>
          <a:xfrm>
            <a:off x="594360" y="2926080"/>
            <a:ext cx="2377440" cy="274320"/>
          </a:xfrm>
          <a:prstGeom prst="rect">
            <a:avLst/>
          </a:prstGeom>
          <a:noFill/>
          <a:ln/>
        </p:spPr>
        <p:txBody>
          <a:bodyPr wrap="square" lIns="0" tIns="0" rIns="0" bIns="0" rtlCol="0" anchor="t"/>
          <a:lstStyle/>
          <a:p>
            <a:pPr marL="0" indent="0">
              <a:buNone/>
            </a:pPr>
            <a:r>
              <a:rPr lang="en-US" sz="1400" b="1" dirty="0">
                <a:solidFill>
                  <a:srgbClr val="22D3EE"/>
                </a:solidFill>
                <a:latin typeface="Calibri" pitchFamily="34" charset="0"/>
                <a:ea typeface="Calibri" pitchFamily="34" charset="-122"/>
                <a:cs typeface="Calibri" pitchFamily="34" charset="-120"/>
              </a:rPr>
              <a:t>Message types</a:t>
            </a:r>
            <a:endParaRPr lang="en-US" sz="1400" dirty="0"/>
          </a:p>
        </p:txBody>
      </p:sp>
      <p:sp>
        <p:nvSpPr>
          <p:cNvPr id="35" name="Text 32"/>
          <p:cNvSpPr txBox="1"/>
          <p:nvPr/>
        </p:nvSpPr>
        <p:spPr>
          <a:xfrm>
            <a:off x="594360" y="3246120"/>
            <a:ext cx="2377440" cy="13258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0x01 DATA</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0x02 ACK</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0x03 RESUME</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0x04 HELLO</a:t>
            </a:r>
            <a:endParaRPr lang="en-US" sz="1200" dirty="0"/>
          </a:p>
        </p:txBody>
      </p:sp>
      <p:sp>
        <p:nvSpPr>
          <p:cNvPr id="36" name="Shape 33"/>
          <p:cNvSpPr/>
          <p:nvPr/>
        </p:nvSpPr>
        <p:spPr>
          <a:xfrm>
            <a:off x="3246120" y="2834640"/>
            <a:ext cx="2651760" cy="1828800"/>
          </a:xfrm>
          <a:prstGeom prst="roundRect">
            <a:avLst>
              <a:gd name="adj" fmla="val 4000"/>
            </a:avLst>
          </a:prstGeom>
          <a:solidFill>
            <a:srgbClr val="131C2E"/>
          </a:solidFill>
          <a:ln w="12700">
            <a:solidFill>
              <a:srgbClr val="FBBF24"/>
            </a:solidFill>
            <a:prstDash val="solid"/>
          </a:ln>
        </p:spPr>
      </p:sp>
      <p:sp>
        <p:nvSpPr>
          <p:cNvPr id="37" name="Text 34"/>
          <p:cNvSpPr txBox="1"/>
          <p:nvPr/>
        </p:nvSpPr>
        <p:spPr>
          <a:xfrm>
            <a:off x="3383280" y="2926080"/>
            <a:ext cx="2377440" cy="274320"/>
          </a:xfrm>
          <a:prstGeom prst="rect">
            <a:avLst/>
          </a:prstGeom>
          <a:noFill/>
          <a:ln/>
        </p:spPr>
        <p:txBody>
          <a:bodyPr wrap="square" lIns="0" tIns="0" rIns="0" bIns="0" rtlCol="0" anchor="t"/>
          <a:lstStyle/>
          <a:p>
            <a:pPr marL="0" indent="0">
              <a:buNone/>
            </a:pPr>
            <a:r>
              <a:rPr lang="en-US" sz="1400" b="1" dirty="0">
                <a:solidFill>
                  <a:srgbClr val="FBBF24"/>
                </a:solidFill>
                <a:latin typeface="Calibri" pitchFamily="34" charset="0"/>
                <a:ea typeface="Calibri" pitchFamily="34" charset="-122"/>
                <a:cs typeface="Calibri" pitchFamily="34" charset="-120"/>
              </a:rPr>
              <a:t>CRC32: limits</a:t>
            </a:r>
            <a:endParaRPr lang="en-US" sz="1400" dirty="0"/>
          </a:p>
        </p:txBody>
      </p:sp>
      <p:sp>
        <p:nvSpPr>
          <p:cNvPr id="38" name="Text 35"/>
          <p:cNvSpPr txBox="1"/>
          <p:nvPr/>
        </p:nvSpPr>
        <p:spPr>
          <a:xfrm>
            <a:off x="3383280" y="3246120"/>
            <a:ext cx="2377440" cy="13258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Detects accidental corruption</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Not authentication; cannot stop deliberate tampering</a:t>
            </a:r>
            <a:endParaRPr lang="en-US" sz="1200" dirty="0"/>
          </a:p>
        </p:txBody>
      </p:sp>
      <p:sp>
        <p:nvSpPr>
          <p:cNvPr id="39" name="Shape 36"/>
          <p:cNvSpPr/>
          <p:nvPr/>
        </p:nvSpPr>
        <p:spPr>
          <a:xfrm>
            <a:off x="6035040" y="2834640"/>
            <a:ext cx="2651760" cy="1828800"/>
          </a:xfrm>
          <a:prstGeom prst="roundRect">
            <a:avLst>
              <a:gd name="adj" fmla="val 4000"/>
            </a:avLst>
          </a:prstGeom>
          <a:solidFill>
            <a:srgbClr val="131C2E"/>
          </a:solidFill>
          <a:ln w="12700">
            <a:solidFill>
              <a:srgbClr val="A78BFA"/>
            </a:solidFill>
            <a:prstDash val="solid"/>
          </a:ln>
        </p:spPr>
      </p:sp>
      <p:sp>
        <p:nvSpPr>
          <p:cNvPr id="40" name="Text 37"/>
          <p:cNvSpPr txBox="1"/>
          <p:nvPr/>
        </p:nvSpPr>
        <p:spPr>
          <a:xfrm>
            <a:off x="6172200" y="2926080"/>
            <a:ext cx="2377440" cy="274320"/>
          </a:xfrm>
          <a:prstGeom prst="rect">
            <a:avLst/>
          </a:prstGeom>
          <a:noFill/>
          <a:ln/>
        </p:spPr>
        <p:txBody>
          <a:bodyPr wrap="square" lIns="0" tIns="0" rIns="0" bIns="0" rtlCol="0" anchor="t"/>
          <a:lstStyle/>
          <a:p>
            <a:pPr marL="0" indent="0">
              <a:buNone/>
            </a:pPr>
            <a:r>
              <a:rPr lang="en-US" sz="1400" b="1" dirty="0">
                <a:solidFill>
                  <a:srgbClr val="A78BFA"/>
                </a:solidFill>
                <a:latin typeface="Calibri" pitchFamily="34" charset="0"/>
                <a:ea typeface="Calibri" pitchFamily="34" charset="-122"/>
                <a:cs typeface="Calibri" pitchFamily="34" charset="-120"/>
              </a:rPr>
              <a:t>Persistence + resume</a:t>
            </a:r>
            <a:endParaRPr lang="en-US" sz="1400" dirty="0"/>
          </a:p>
        </p:txBody>
      </p:sp>
      <p:sp>
        <p:nvSpPr>
          <p:cNvPr id="41" name="Text 38"/>
          <p:cNvSpPr txBox="1"/>
          <p:nvPr/>
        </p:nvSpPr>
        <p:spPr>
          <a:xfrm>
            <a:off x="6172200" y="3246120"/>
            <a:ext cx="2377440" cy="13258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Server tracks last ACKed chunk</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/tmp/backup bind-mounted to stored_files/h3, h4</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a:extLst>
            <a:ext uri="{FF2B5EF4-FFF2-40B4-BE49-F238E27FC236}">
              <a16:creationId xmlns:a16="http://schemas.microsoft.com/office/drawing/2014/main" id="{4C3EB34D-98CC-19A1-7AB3-0973BE34F4AD}"/>
            </a:ext>
          </a:extLst>
        </p:cNvPr>
        <p:cNvGrpSpPr/>
        <p:nvPr/>
      </p:nvGrpSpPr>
      <p:grpSpPr>
        <a:xfrm>
          <a:off x="0" y="0"/>
          <a:ext cx="0" cy="0"/>
          <a:chOff x="0" y="0"/>
          <a:chExt cx="0" cy="0"/>
        </a:xfrm>
      </p:grpSpPr>
      <p:pic>
        <p:nvPicPr>
          <p:cNvPr id="42" name="Picture 41">
            <a:extLst>
              <a:ext uri="{FF2B5EF4-FFF2-40B4-BE49-F238E27FC236}">
                <a16:creationId xmlns:a16="http://schemas.microsoft.com/office/drawing/2014/main" id="{54F9179D-FA50-7B0E-D8D8-49825341D383}"/>
              </a:ext>
            </a:extLst>
          </p:cNvPr>
          <p:cNvPicPr>
            <a:picLocks noChangeAspect="1"/>
          </p:cNvPicPr>
          <p:nvPr/>
        </p:nvPicPr>
        <p:blipFill>
          <a:blip r:embed="rId3"/>
          <a:stretch>
            <a:fillRect/>
          </a:stretch>
        </p:blipFill>
        <p:spPr>
          <a:xfrm>
            <a:off x="-384247" y="-1"/>
            <a:ext cx="9880944" cy="5192487"/>
          </a:xfrm>
          <a:prstGeom prst="rect">
            <a:avLst/>
          </a:prstGeom>
        </p:spPr>
      </p:pic>
    </p:spTree>
    <p:extLst>
      <p:ext uri="{BB962C8B-B14F-4D97-AF65-F5344CB8AC3E}">
        <p14:creationId xmlns:p14="http://schemas.microsoft.com/office/powerpoint/2010/main" val="2809410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02920"/>
          </a:xfrm>
          <a:prstGeom prst="rect">
            <a:avLst/>
          </a:prstGeom>
          <a:noFill/>
          <a:ln/>
        </p:spPr>
        <p:txBody>
          <a:bodyPr wrap="square" lIns="0" tIns="0" rIns="0" bIns="0" rtlCol="0" anchor="ctr"/>
          <a:lstStyle/>
          <a:p>
            <a:pPr marL="0" indent="0">
              <a:buNone/>
            </a:pPr>
            <a:r>
              <a:rPr lang="en-US" sz="2600" b="1" dirty="0">
                <a:solidFill>
                  <a:srgbClr val="E5E7EB"/>
                </a:solidFill>
                <a:latin typeface="Calibri" pitchFamily="34" charset="0"/>
                <a:ea typeface="Calibri" pitchFamily="34" charset="-122"/>
                <a:cs typeface="Calibri" pitchFamily="34" charset="-120"/>
              </a:rPr>
              <a:t>Mininet Topology and SDN Controller</a:t>
            </a:r>
            <a:endParaRPr lang="en-US" sz="2600" dirty="0"/>
          </a:p>
        </p:txBody>
      </p:sp>
      <p:sp>
        <p:nvSpPr>
          <p:cNvPr id="3" name="Text 1"/>
          <p:cNvSpPr txBox="1"/>
          <p:nvPr/>
        </p:nvSpPr>
        <p:spPr>
          <a:xfrm>
            <a:off x="457200" y="4800600"/>
            <a:ext cx="8229600" cy="228600"/>
          </a:xfrm>
          <a:prstGeom prst="rect">
            <a:avLst/>
          </a:prstGeom>
          <a:noFill/>
          <a:ln/>
        </p:spPr>
        <p:txBody>
          <a:bodyPr wrap="square" lIns="0" tIns="0" rIns="0" bIns="0" rtlCol="0" anchor="t"/>
          <a:lstStyle/>
          <a:p>
            <a:pPr marL="0" indent="0">
              <a:buNone/>
            </a:pPr>
            <a:endParaRPr lang="en-US" sz="1000" dirty="0"/>
          </a:p>
        </p:txBody>
      </p:sp>
      <p:sp>
        <p:nvSpPr>
          <p:cNvPr id="5" name="Shape 2"/>
          <p:cNvSpPr/>
          <p:nvPr/>
        </p:nvSpPr>
        <p:spPr>
          <a:xfrm>
            <a:off x="457200" y="914400"/>
            <a:ext cx="4023360" cy="2148840"/>
          </a:xfrm>
          <a:prstGeom prst="roundRect">
            <a:avLst>
              <a:gd name="adj" fmla="val 3404"/>
            </a:avLst>
          </a:prstGeom>
          <a:solidFill>
            <a:srgbClr val="131C2E"/>
          </a:solidFill>
          <a:ln w="12700">
            <a:solidFill>
              <a:srgbClr val="22D3EE"/>
            </a:solidFill>
            <a:prstDash val="solid"/>
          </a:ln>
        </p:spPr>
      </p:sp>
      <p:sp>
        <p:nvSpPr>
          <p:cNvPr id="6" name="Text 3"/>
          <p:cNvSpPr txBox="1"/>
          <p:nvPr/>
        </p:nvSpPr>
        <p:spPr>
          <a:xfrm>
            <a:off x="594360" y="1005840"/>
            <a:ext cx="3749040" cy="274320"/>
          </a:xfrm>
          <a:prstGeom prst="rect">
            <a:avLst/>
          </a:prstGeom>
          <a:noFill/>
          <a:ln/>
        </p:spPr>
        <p:txBody>
          <a:bodyPr wrap="square" lIns="0" tIns="0" rIns="0" bIns="0" rtlCol="0" anchor="t"/>
          <a:lstStyle/>
          <a:p>
            <a:pPr marL="0" indent="0">
              <a:buNone/>
            </a:pPr>
            <a:r>
              <a:rPr lang="en-US" sz="1400" b="1" dirty="0">
                <a:solidFill>
                  <a:srgbClr val="22D3EE"/>
                </a:solidFill>
                <a:latin typeface="Calibri" pitchFamily="34" charset="0"/>
                <a:ea typeface="Calibri" pitchFamily="34" charset="-122"/>
                <a:cs typeface="Calibri" pitchFamily="34" charset="-120"/>
              </a:rPr>
              <a:t>Mininet (mininet/topology.py)</a:t>
            </a:r>
            <a:endParaRPr lang="en-US" sz="1400" dirty="0"/>
          </a:p>
        </p:txBody>
      </p:sp>
      <p:sp>
        <p:nvSpPr>
          <p:cNvPr id="7" name="Text 4"/>
          <p:cNvSpPr txBox="1"/>
          <p:nvPr/>
        </p:nvSpPr>
        <p:spPr>
          <a:xfrm>
            <a:off x="594360" y="1325880"/>
            <a:ext cx="3749040" cy="16459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4 OVS switches, full mesh: 6 inter-switch links</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h1, h2 = clients; h3, h4 = servers</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Remote controller, OpenFlow 1.3</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Backup dirs bind-mounted for persistence</a:t>
            </a:r>
            <a:endParaRPr lang="en-US" sz="1200" dirty="0"/>
          </a:p>
        </p:txBody>
      </p:sp>
      <p:sp>
        <p:nvSpPr>
          <p:cNvPr id="8" name="Shape 5"/>
          <p:cNvSpPr/>
          <p:nvPr/>
        </p:nvSpPr>
        <p:spPr>
          <a:xfrm>
            <a:off x="4663440" y="914400"/>
            <a:ext cx="4023360" cy="2148840"/>
          </a:xfrm>
          <a:prstGeom prst="roundRect">
            <a:avLst>
              <a:gd name="adj" fmla="val 3404"/>
            </a:avLst>
          </a:prstGeom>
          <a:solidFill>
            <a:srgbClr val="131C2E"/>
          </a:solidFill>
          <a:ln w="12700">
            <a:solidFill>
              <a:srgbClr val="A78BFA"/>
            </a:solidFill>
            <a:prstDash val="solid"/>
          </a:ln>
        </p:spPr>
      </p:sp>
      <p:sp>
        <p:nvSpPr>
          <p:cNvPr id="9" name="Text 6"/>
          <p:cNvSpPr txBox="1"/>
          <p:nvPr/>
        </p:nvSpPr>
        <p:spPr>
          <a:xfrm>
            <a:off x="4800600" y="1005840"/>
            <a:ext cx="3749040" cy="274320"/>
          </a:xfrm>
          <a:prstGeom prst="rect">
            <a:avLst/>
          </a:prstGeom>
          <a:noFill/>
          <a:ln/>
        </p:spPr>
        <p:txBody>
          <a:bodyPr wrap="square" lIns="0" tIns="0" rIns="0" bIns="0" rtlCol="0" anchor="t"/>
          <a:lstStyle/>
          <a:p>
            <a:pPr marL="0" indent="0">
              <a:buNone/>
            </a:pPr>
            <a:r>
              <a:rPr lang="en-US" sz="1400" b="1" dirty="0">
                <a:solidFill>
                  <a:srgbClr val="A78BFA"/>
                </a:solidFill>
                <a:latin typeface="Calibri" pitchFamily="34" charset="0"/>
                <a:ea typeface="Calibri" pitchFamily="34" charset="-122"/>
                <a:cs typeface="Calibri" pitchFamily="34" charset="-120"/>
              </a:rPr>
              <a:t>Ryu (controller/sdn_controller.py)</a:t>
            </a:r>
            <a:endParaRPr lang="en-US" sz="1400" dirty="0"/>
          </a:p>
        </p:txBody>
      </p:sp>
      <p:sp>
        <p:nvSpPr>
          <p:cNvPr id="10" name="Text 7"/>
          <p:cNvSpPr txBox="1"/>
          <p:nvPr/>
        </p:nvSpPr>
        <p:spPr>
          <a:xfrm>
            <a:off x="4800600" y="1325880"/>
            <a:ext cx="3749040" cy="16459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Topology discovery via LLDP</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Dijkstra shortest path</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Flow rules installed on switches</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Port-status handling; flow stats every 5 s</a:t>
            </a:r>
            <a:endParaRPr lang="en-US" sz="1200" dirty="0"/>
          </a:p>
        </p:txBody>
      </p:sp>
      <p:sp>
        <p:nvSpPr>
          <p:cNvPr id="11" name="Shape 8"/>
          <p:cNvSpPr/>
          <p:nvPr/>
        </p:nvSpPr>
        <p:spPr>
          <a:xfrm>
            <a:off x="457200" y="3246120"/>
            <a:ext cx="8229600" cy="1417320"/>
          </a:xfrm>
          <a:prstGeom prst="roundRect">
            <a:avLst>
              <a:gd name="adj" fmla="val 3871"/>
            </a:avLst>
          </a:prstGeom>
          <a:solidFill>
            <a:srgbClr val="070C16"/>
          </a:solidFill>
          <a:ln w="12700">
            <a:solidFill>
              <a:srgbClr val="475569"/>
            </a:solidFill>
            <a:prstDash val="solid"/>
          </a:ln>
        </p:spPr>
      </p:sp>
      <p:sp>
        <p:nvSpPr>
          <p:cNvPr id="12" name="Text 9"/>
          <p:cNvSpPr txBox="1"/>
          <p:nvPr/>
        </p:nvSpPr>
        <p:spPr>
          <a:xfrm>
            <a:off x="640080" y="3364992"/>
            <a:ext cx="7863840" cy="1188720"/>
          </a:xfrm>
          <a:prstGeom prst="rect">
            <a:avLst/>
          </a:prstGeom>
          <a:noFill/>
          <a:ln/>
        </p:spPr>
        <p:txBody>
          <a:bodyPr wrap="square" lIns="0" tIns="0" rIns="0" bIns="0" rtlCol="0" anchor="t"/>
          <a:lstStyle/>
          <a:p>
            <a:pPr marL="0" indent="0">
              <a:buNone/>
            </a:pPr>
            <a:r>
              <a:rPr lang="en-US" sz="1200" dirty="0">
                <a:solidFill>
                  <a:srgbClr val="22D3EE"/>
                </a:solidFill>
                <a:latin typeface="Courier New" pitchFamily="34" charset="0"/>
                <a:ea typeface="Courier New" pitchFamily="34" charset="-122"/>
                <a:cs typeface="Courier New" pitchFamily="34" charset="-120"/>
              </a:rPr>
              <a:t>sudo python mininet/topology.py          # T1: network</a:t>
            </a:r>
            <a:endParaRPr lang="en-US" sz="1200" dirty="0"/>
          </a:p>
          <a:p>
            <a:pPr marL="0" indent="0">
              <a:buNone/>
            </a:pPr>
            <a:r>
              <a:rPr lang="en-US" sz="1200" dirty="0">
                <a:solidFill>
                  <a:srgbClr val="22D3EE"/>
                </a:solidFill>
                <a:latin typeface="Courier New" pitchFamily="34" charset="0"/>
                <a:ea typeface="Courier New" pitchFamily="34" charset="-122"/>
                <a:cs typeface="Courier New" pitchFamily="34" charset="-120"/>
              </a:rPr>
              <a:t>ryu-manager controller/sdn_controller.py   # T2: controller</a:t>
            </a:r>
            <a:endParaRPr lang="en-US" sz="1200" dirty="0"/>
          </a:p>
          <a:p>
            <a:pPr marL="0" indent="0">
              <a:buNone/>
            </a:pPr>
            <a:r>
              <a:rPr lang="en-US" sz="1200" dirty="0">
                <a:solidFill>
                  <a:srgbClr val="22D3EE"/>
                </a:solidFill>
                <a:latin typeface="Courier New" pitchFamily="34" charset="0"/>
                <a:ea typeface="Courier New" pitchFamily="34" charset="-122"/>
                <a:cs typeface="Courier New" pitchFamily="34" charset="-120"/>
              </a:rPr>
              <a:t>mininet&gt; pingall                            # connectivity</a:t>
            </a:r>
            <a:endParaRPr lang="en-US" sz="1200" dirty="0"/>
          </a:p>
          <a:p>
            <a:pPr marL="0" indent="0">
              <a:buNone/>
            </a:pPr>
            <a:r>
              <a:rPr lang="en-US" sz="1200" dirty="0">
                <a:solidFill>
                  <a:srgbClr val="22D3EE"/>
                </a:solidFill>
                <a:latin typeface="Courier New" pitchFamily="34" charset="0"/>
                <a:ea typeface="Courier New" pitchFamily="34" charset="-122"/>
                <a:cs typeface="Courier New" pitchFamily="34" charset="-120"/>
              </a:rPr>
              <a:t>mininet&gt; sh ovs-ofctl -O OpenFlow13 dump-flows s1</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B122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02920"/>
          </a:xfrm>
          <a:prstGeom prst="rect">
            <a:avLst/>
          </a:prstGeom>
          <a:noFill/>
          <a:ln/>
        </p:spPr>
        <p:txBody>
          <a:bodyPr wrap="square" lIns="0" tIns="0" rIns="0" bIns="0" rtlCol="0" anchor="ctr"/>
          <a:lstStyle/>
          <a:p>
            <a:pPr marL="0" indent="0">
              <a:buNone/>
            </a:pPr>
            <a:r>
              <a:rPr lang="en-US" sz="2600" b="1" dirty="0">
                <a:solidFill>
                  <a:srgbClr val="E5E7EB"/>
                </a:solidFill>
                <a:latin typeface="Calibri" pitchFamily="34" charset="0"/>
                <a:ea typeface="Calibri" pitchFamily="34" charset="-122"/>
                <a:cs typeface="Calibri" pitchFamily="34" charset="-120"/>
              </a:rPr>
              <a:t>Dynamic Routing and Failure Recovery</a:t>
            </a:r>
            <a:endParaRPr lang="en-US" sz="2600" dirty="0"/>
          </a:p>
        </p:txBody>
      </p:sp>
      <p:sp>
        <p:nvSpPr>
          <p:cNvPr id="3" name="Text 1"/>
          <p:cNvSpPr txBox="1"/>
          <p:nvPr/>
        </p:nvSpPr>
        <p:spPr>
          <a:xfrm>
            <a:off x="457200" y="4800600"/>
            <a:ext cx="8229600" cy="228600"/>
          </a:xfrm>
          <a:prstGeom prst="rect">
            <a:avLst/>
          </a:prstGeom>
          <a:noFill/>
          <a:ln/>
        </p:spPr>
        <p:txBody>
          <a:bodyPr wrap="square" lIns="0" tIns="0" rIns="0" bIns="0" rtlCol="0" anchor="t"/>
          <a:lstStyle/>
          <a:p>
            <a:pPr marL="0" indent="0">
              <a:buNone/>
            </a:pPr>
            <a:endParaRPr lang="en-US" sz="1000" dirty="0"/>
          </a:p>
        </p:txBody>
      </p:sp>
      <p:sp>
        <p:nvSpPr>
          <p:cNvPr id="5" name="Text 2"/>
          <p:cNvSpPr txBox="1"/>
          <p:nvPr/>
        </p:nvSpPr>
        <p:spPr>
          <a:xfrm>
            <a:off x="457200" y="914400"/>
            <a:ext cx="3657600" cy="274320"/>
          </a:xfrm>
          <a:prstGeom prst="rect">
            <a:avLst/>
          </a:prstGeom>
          <a:noFill/>
          <a:ln/>
        </p:spPr>
        <p:txBody>
          <a:bodyPr wrap="square" lIns="0" tIns="0" rIns="0" bIns="0" rtlCol="0" anchor="t"/>
          <a:lstStyle/>
          <a:p>
            <a:pPr marL="0" indent="0">
              <a:buNone/>
            </a:pPr>
            <a:r>
              <a:rPr lang="en-US" sz="1300" b="1" dirty="0">
                <a:solidFill>
                  <a:srgbClr val="22D3EE"/>
                </a:solidFill>
                <a:latin typeface="Calibri" pitchFamily="34" charset="0"/>
                <a:ea typeface="Calibri" pitchFamily="34" charset="-122"/>
                <a:cs typeface="Calibri" pitchFamily="34" charset="-120"/>
              </a:rPr>
              <a:t>BEFORE: all links up</a:t>
            </a:r>
            <a:endParaRPr lang="en-US" sz="1300" dirty="0"/>
          </a:p>
        </p:txBody>
      </p:sp>
      <p:sp>
        <p:nvSpPr>
          <p:cNvPr id="6" name="Text 3"/>
          <p:cNvSpPr txBox="1"/>
          <p:nvPr/>
        </p:nvSpPr>
        <p:spPr>
          <a:xfrm>
            <a:off x="4846320" y="914400"/>
            <a:ext cx="3657600" cy="274320"/>
          </a:xfrm>
          <a:prstGeom prst="rect">
            <a:avLst/>
          </a:prstGeom>
          <a:noFill/>
          <a:ln/>
        </p:spPr>
        <p:txBody>
          <a:bodyPr wrap="square" lIns="0" tIns="0" rIns="0" bIns="0" rtlCol="0" anchor="t"/>
          <a:lstStyle/>
          <a:p>
            <a:pPr marL="0" indent="0">
              <a:buNone/>
            </a:pPr>
            <a:r>
              <a:rPr lang="en-US" sz="1300" b="1" dirty="0">
                <a:solidFill>
                  <a:srgbClr val="F87171"/>
                </a:solidFill>
                <a:latin typeface="Calibri" pitchFamily="34" charset="0"/>
                <a:ea typeface="Calibri" pitchFamily="34" charset="-122"/>
                <a:cs typeface="Calibri" pitchFamily="34" charset="-120"/>
              </a:rPr>
              <a:t>AFTER: s1–s2 down</a:t>
            </a:r>
            <a:endParaRPr lang="en-US" sz="1300" dirty="0"/>
          </a:p>
        </p:txBody>
      </p:sp>
      <p:sp>
        <p:nvSpPr>
          <p:cNvPr id="7" name="Shape 4"/>
          <p:cNvSpPr/>
          <p:nvPr/>
        </p:nvSpPr>
        <p:spPr>
          <a:xfrm>
            <a:off x="1280160" y="1554480"/>
            <a:ext cx="1645920" cy="0"/>
          </a:xfrm>
          <a:prstGeom prst="line">
            <a:avLst/>
          </a:prstGeom>
          <a:noFill/>
          <a:ln w="12700">
            <a:solidFill>
              <a:srgbClr val="475569"/>
            </a:solidFill>
            <a:prstDash val="solid"/>
          </a:ln>
        </p:spPr>
      </p:sp>
      <p:sp>
        <p:nvSpPr>
          <p:cNvPr id="8" name="Shape 5"/>
          <p:cNvSpPr/>
          <p:nvPr/>
        </p:nvSpPr>
        <p:spPr>
          <a:xfrm>
            <a:off x="1280160" y="2743200"/>
            <a:ext cx="1645920" cy="0"/>
          </a:xfrm>
          <a:prstGeom prst="line">
            <a:avLst/>
          </a:prstGeom>
          <a:noFill/>
          <a:ln w="12700">
            <a:solidFill>
              <a:srgbClr val="475569"/>
            </a:solidFill>
            <a:prstDash val="solid"/>
          </a:ln>
        </p:spPr>
      </p:sp>
      <p:sp>
        <p:nvSpPr>
          <p:cNvPr id="9" name="Shape 6"/>
          <p:cNvSpPr/>
          <p:nvPr/>
        </p:nvSpPr>
        <p:spPr>
          <a:xfrm>
            <a:off x="1280160" y="1554480"/>
            <a:ext cx="0" cy="1188720"/>
          </a:xfrm>
          <a:prstGeom prst="line">
            <a:avLst/>
          </a:prstGeom>
          <a:noFill/>
          <a:ln w="12700">
            <a:solidFill>
              <a:srgbClr val="475569"/>
            </a:solidFill>
            <a:prstDash val="solid"/>
          </a:ln>
        </p:spPr>
      </p:sp>
      <p:sp>
        <p:nvSpPr>
          <p:cNvPr id="10" name="Shape 7"/>
          <p:cNvSpPr/>
          <p:nvPr/>
        </p:nvSpPr>
        <p:spPr>
          <a:xfrm>
            <a:off x="2926080" y="1554480"/>
            <a:ext cx="0" cy="1188720"/>
          </a:xfrm>
          <a:prstGeom prst="line">
            <a:avLst/>
          </a:prstGeom>
          <a:noFill/>
          <a:ln w="12700">
            <a:solidFill>
              <a:srgbClr val="475569"/>
            </a:solidFill>
            <a:prstDash val="solid"/>
          </a:ln>
        </p:spPr>
      </p:sp>
      <p:sp>
        <p:nvSpPr>
          <p:cNvPr id="11" name="Shape 8"/>
          <p:cNvSpPr/>
          <p:nvPr/>
        </p:nvSpPr>
        <p:spPr>
          <a:xfrm>
            <a:off x="1280160" y="1554480"/>
            <a:ext cx="1645920" cy="1188720"/>
          </a:xfrm>
          <a:prstGeom prst="line">
            <a:avLst/>
          </a:prstGeom>
          <a:noFill/>
          <a:ln w="12700">
            <a:solidFill>
              <a:srgbClr val="475569"/>
            </a:solidFill>
            <a:prstDash val="solid"/>
          </a:ln>
        </p:spPr>
      </p:sp>
      <p:sp>
        <p:nvSpPr>
          <p:cNvPr id="12" name="Shape 9"/>
          <p:cNvSpPr/>
          <p:nvPr/>
        </p:nvSpPr>
        <p:spPr>
          <a:xfrm flipH="1">
            <a:off x="1280160" y="1554480"/>
            <a:ext cx="1645920" cy="1188720"/>
          </a:xfrm>
          <a:prstGeom prst="line">
            <a:avLst/>
          </a:prstGeom>
          <a:noFill/>
          <a:ln w="12700">
            <a:solidFill>
              <a:srgbClr val="475569"/>
            </a:solidFill>
            <a:prstDash val="solid"/>
          </a:ln>
        </p:spPr>
      </p:sp>
      <p:sp>
        <p:nvSpPr>
          <p:cNvPr id="13" name="Shape 10"/>
          <p:cNvSpPr/>
          <p:nvPr/>
        </p:nvSpPr>
        <p:spPr>
          <a:xfrm>
            <a:off x="502920" y="1554480"/>
            <a:ext cx="777240" cy="0"/>
          </a:xfrm>
          <a:prstGeom prst="line">
            <a:avLst/>
          </a:prstGeom>
          <a:noFill/>
          <a:ln w="44450">
            <a:solidFill>
              <a:srgbClr val="22D3EE"/>
            </a:solidFill>
            <a:prstDash val="solid"/>
          </a:ln>
        </p:spPr>
      </p:sp>
      <p:sp>
        <p:nvSpPr>
          <p:cNvPr id="14" name="Shape 11"/>
          <p:cNvSpPr/>
          <p:nvPr/>
        </p:nvSpPr>
        <p:spPr>
          <a:xfrm>
            <a:off x="1280160" y="1554480"/>
            <a:ext cx="1645920" cy="0"/>
          </a:xfrm>
          <a:prstGeom prst="line">
            <a:avLst/>
          </a:prstGeom>
          <a:noFill/>
          <a:ln w="44450">
            <a:solidFill>
              <a:srgbClr val="22D3EE"/>
            </a:solidFill>
            <a:prstDash val="solid"/>
          </a:ln>
        </p:spPr>
      </p:sp>
      <p:sp>
        <p:nvSpPr>
          <p:cNvPr id="15" name="Shape 12"/>
          <p:cNvSpPr/>
          <p:nvPr/>
        </p:nvSpPr>
        <p:spPr>
          <a:xfrm>
            <a:off x="2926080" y="1554480"/>
            <a:ext cx="502920" cy="0"/>
          </a:xfrm>
          <a:prstGeom prst="line">
            <a:avLst/>
          </a:prstGeom>
          <a:noFill/>
          <a:ln w="44450">
            <a:solidFill>
              <a:srgbClr val="22D3EE"/>
            </a:solidFill>
            <a:prstDash val="solid"/>
          </a:ln>
        </p:spPr>
      </p:sp>
      <p:sp>
        <p:nvSpPr>
          <p:cNvPr id="16" name="Shape 13"/>
          <p:cNvSpPr/>
          <p:nvPr/>
        </p:nvSpPr>
        <p:spPr>
          <a:xfrm>
            <a:off x="1005840" y="1371600"/>
            <a:ext cx="548640" cy="365760"/>
          </a:xfrm>
          <a:prstGeom prst="roundRect">
            <a:avLst>
              <a:gd name="adj" fmla="val 15000"/>
            </a:avLst>
          </a:prstGeom>
          <a:solidFill>
            <a:srgbClr val="131C2E"/>
          </a:solidFill>
          <a:ln w="19050">
            <a:solidFill>
              <a:srgbClr val="22D3EE"/>
            </a:solidFill>
            <a:prstDash val="solid"/>
          </a:ln>
        </p:spPr>
      </p:sp>
      <p:sp>
        <p:nvSpPr>
          <p:cNvPr id="17" name="Text 14"/>
          <p:cNvSpPr txBox="1"/>
          <p:nvPr/>
        </p:nvSpPr>
        <p:spPr>
          <a:xfrm>
            <a:off x="1005840" y="1371600"/>
            <a:ext cx="548640" cy="36576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s1</a:t>
            </a:r>
            <a:endParaRPr lang="en-US" sz="1100" dirty="0"/>
          </a:p>
        </p:txBody>
      </p:sp>
      <p:sp>
        <p:nvSpPr>
          <p:cNvPr id="18" name="Shape 15"/>
          <p:cNvSpPr/>
          <p:nvPr/>
        </p:nvSpPr>
        <p:spPr>
          <a:xfrm>
            <a:off x="2651760" y="1371600"/>
            <a:ext cx="548640" cy="365760"/>
          </a:xfrm>
          <a:prstGeom prst="roundRect">
            <a:avLst>
              <a:gd name="adj" fmla="val 15000"/>
            </a:avLst>
          </a:prstGeom>
          <a:solidFill>
            <a:srgbClr val="131C2E"/>
          </a:solidFill>
          <a:ln w="19050">
            <a:solidFill>
              <a:srgbClr val="22D3EE"/>
            </a:solidFill>
            <a:prstDash val="solid"/>
          </a:ln>
        </p:spPr>
      </p:sp>
      <p:sp>
        <p:nvSpPr>
          <p:cNvPr id="19" name="Text 16"/>
          <p:cNvSpPr txBox="1"/>
          <p:nvPr/>
        </p:nvSpPr>
        <p:spPr>
          <a:xfrm>
            <a:off x="2651760" y="1371600"/>
            <a:ext cx="548640" cy="36576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s2</a:t>
            </a:r>
            <a:endParaRPr lang="en-US" sz="1100" dirty="0"/>
          </a:p>
        </p:txBody>
      </p:sp>
      <p:sp>
        <p:nvSpPr>
          <p:cNvPr id="20" name="Shape 17"/>
          <p:cNvSpPr/>
          <p:nvPr/>
        </p:nvSpPr>
        <p:spPr>
          <a:xfrm>
            <a:off x="1005840" y="2560320"/>
            <a:ext cx="548640" cy="365760"/>
          </a:xfrm>
          <a:prstGeom prst="roundRect">
            <a:avLst>
              <a:gd name="adj" fmla="val 15000"/>
            </a:avLst>
          </a:prstGeom>
          <a:solidFill>
            <a:srgbClr val="131C2E"/>
          </a:solidFill>
          <a:ln w="19050">
            <a:solidFill>
              <a:srgbClr val="22D3EE"/>
            </a:solidFill>
            <a:prstDash val="solid"/>
          </a:ln>
        </p:spPr>
      </p:sp>
      <p:sp>
        <p:nvSpPr>
          <p:cNvPr id="21" name="Text 18"/>
          <p:cNvSpPr txBox="1"/>
          <p:nvPr/>
        </p:nvSpPr>
        <p:spPr>
          <a:xfrm>
            <a:off x="1005840" y="2560320"/>
            <a:ext cx="548640" cy="36576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s3</a:t>
            </a:r>
            <a:endParaRPr lang="en-US" sz="1100" dirty="0"/>
          </a:p>
        </p:txBody>
      </p:sp>
      <p:sp>
        <p:nvSpPr>
          <p:cNvPr id="22" name="Shape 19"/>
          <p:cNvSpPr/>
          <p:nvPr/>
        </p:nvSpPr>
        <p:spPr>
          <a:xfrm>
            <a:off x="2651760" y="2560320"/>
            <a:ext cx="548640" cy="365760"/>
          </a:xfrm>
          <a:prstGeom prst="roundRect">
            <a:avLst>
              <a:gd name="adj" fmla="val 15000"/>
            </a:avLst>
          </a:prstGeom>
          <a:solidFill>
            <a:srgbClr val="131C2E"/>
          </a:solidFill>
          <a:ln w="19050">
            <a:solidFill>
              <a:srgbClr val="22D3EE"/>
            </a:solidFill>
            <a:prstDash val="solid"/>
          </a:ln>
        </p:spPr>
      </p:sp>
      <p:sp>
        <p:nvSpPr>
          <p:cNvPr id="23" name="Text 20"/>
          <p:cNvSpPr txBox="1"/>
          <p:nvPr/>
        </p:nvSpPr>
        <p:spPr>
          <a:xfrm>
            <a:off x="2651760" y="2560320"/>
            <a:ext cx="548640" cy="36576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s4</a:t>
            </a:r>
            <a:endParaRPr lang="en-US" sz="1100" dirty="0"/>
          </a:p>
        </p:txBody>
      </p:sp>
      <p:sp>
        <p:nvSpPr>
          <p:cNvPr id="24" name="Shape 21"/>
          <p:cNvSpPr/>
          <p:nvPr/>
        </p:nvSpPr>
        <p:spPr>
          <a:xfrm>
            <a:off x="502920" y="1371600"/>
            <a:ext cx="457200" cy="365760"/>
          </a:xfrm>
          <a:prstGeom prst="roundRect">
            <a:avLst>
              <a:gd name="adj" fmla="val 15000"/>
            </a:avLst>
          </a:prstGeom>
          <a:solidFill>
            <a:srgbClr val="131C2E"/>
          </a:solidFill>
          <a:ln w="19050">
            <a:solidFill>
              <a:srgbClr val="4ADE80"/>
            </a:solidFill>
            <a:prstDash val="solid"/>
          </a:ln>
        </p:spPr>
      </p:sp>
      <p:sp>
        <p:nvSpPr>
          <p:cNvPr id="25" name="Text 22"/>
          <p:cNvSpPr txBox="1"/>
          <p:nvPr/>
        </p:nvSpPr>
        <p:spPr>
          <a:xfrm>
            <a:off x="502920" y="1371600"/>
            <a:ext cx="457200" cy="365760"/>
          </a:xfrm>
          <a:prstGeom prst="rect">
            <a:avLst/>
          </a:prstGeom>
          <a:noFill/>
          <a:ln/>
        </p:spPr>
        <p:txBody>
          <a:bodyPr wrap="square" lIns="0" tIns="0" rIns="0" bIns="0" rtlCol="0" anchor="ctr"/>
          <a:lstStyle/>
          <a:p>
            <a:pPr marL="0" indent="0" algn="ctr">
              <a:buNone/>
            </a:pPr>
            <a:r>
              <a:rPr lang="en-US" sz="1000" b="1" dirty="0">
                <a:solidFill>
                  <a:srgbClr val="E5E7EB"/>
                </a:solidFill>
                <a:latin typeface="Calibri" pitchFamily="34" charset="0"/>
                <a:ea typeface="Calibri" pitchFamily="34" charset="-122"/>
                <a:cs typeface="Calibri" pitchFamily="34" charset="-120"/>
              </a:rPr>
              <a:t>h1</a:t>
            </a:r>
            <a:endParaRPr lang="en-US" sz="1000" dirty="0"/>
          </a:p>
        </p:txBody>
      </p:sp>
      <p:sp>
        <p:nvSpPr>
          <p:cNvPr id="26" name="Shape 23"/>
          <p:cNvSpPr/>
          <p:nvPr/>
        </p:nvSpPr>
        <p:spPr>
          <a:xfrm>
            <a:off x="3200400" y="1371600"/>
            <a:ext cx="457200" cy="365760"/>
          </a:xfrm>
          <a:prstGeom prst="roundRect">
            <a:avLst>
              <a:gd name="adj" fmla="val 15000"/>
            </a:avLst>
          </a:prstGeom>
          <a:solidFill>
            <a:srgbClr val="131C2E"/>
          </a:solidFill>
          <a:ln w="19050">
            <a:solidFill>
              <a:srgbClr val="FBBF24"/>
            </a:solidFill>
            <a:prstDash val="solid"/>
          </a:ln>
        </p:spPr>
      </p:sp>
      <p:sp>
        <p:nvSpPr>
          <p:cNvPr id="27" name="Text 24"/>
          <p:cNvSpPr txBox="1"/>
          <p:nvPr/>
        </p:nvSpPr>
        <p:spPr>
          <a:xfrm>
            <a:off x="3200400" y="1371600"/>
            <a:ext cx="457200" cy="365760"/>
          </a:xfrm>
          <a:prstGeom prst="rect">
            <a:avLst/>
          </a:prstGeom>
          <a:noFill/>
          <a:ln/>
        </p:spPr>
        <p:txBody>
          <a:bodyPr wrap="square" lIns="0" tIns="0" rIns="0" bIns="0" rtlCol="0" anchor="ctr"/>
          <a:lstStyle/>
          <a:p>
            <a:pPr marL="0" indent="0" algn="ctr">
              <a:buNone/>
            </a:pPr>
            <a:r>
              <a:rPr lang="en-US" sz="1000" b="1" dirty="0">
                <a:solidFill>
                  <a:srgbClr val="E5E7EB"/>
                </a:solidFill>
                <a:latin typeface="Calibri" pitchFamily="34" charset="0"/>
                <a:ea typeface="Calibri" pitchFamily="34" charset="-122"/>
                <a:cs typeface="Calibri" pitchFamily="34" charset="-120"/>
              </a:rPr>
              <a:t>h3</a:t>
            </a:r>
            <a:endParaRPr lang="en-US" sz="1000" dirty="0"/>
          </a:p>
        </p:txBody>
      </p:sp>
      <p:sp>
        <p:nvSpPr>
          <p:cNvPr id="28" name="Shape 25"/>
          <p:cNvSpPr/>
          <p:nvPr/>
        </p:nvSpPr>
        <p:spPr>
          <a:xfrm>
            <a:off x="5760720" y="1554480"/>
            <a:ext cx="1645920" cy="0"/>
          </a:xfrm>
          <a:prstGeom prst="line">
            <a:avLst/>
          </a:prstGeom>
          <a:noFill/>
          <a:ln w="12700">
            <a:solidFill>
              <a:srgbClr val="475569"/>
            </a:solidFill>
            <a:prstDash val="solid"/>
          </a:ln>
        </p:spPr>
      </p:sp>
      <p:sp>
        <p:nvSpPr>
          <p:cNvPr id="29" name="Shape 26"/>
          <p:cNvSpPr/>
          <p:nvPr/>
        </p:nvSpPr>
        <p:spPr>
          <a:xfrm>
            <a:off x="5760720" y="2743200"/>
            <a:ext cx="1645920" cy="0"/>
          </a:xfrm>
          <a:prstGeom prst="line">
            <a:avLst/>
          </a:prstGeom>
          <a:noFill/>
          <a:ln w="12700">
            <a:solidFill>
              <a:srgbClr val="475569"/>
            </a:solidFill>
            <a:prstDash val="solid"/>
          </a:ln>
        </p:spPr>
      </p:sp>
      <p:sp>
        <p:nvSpPr>
          <p:cNvPr id="30" name="Shape 27"/>
          <p:cNvSpPr/>
          <p:nvPr/>
        </p:nvSpPr>
        <p:spPr>
          <a:xfrm>
            <a:off x="5760720" y="1554480"/>
            <a:ext cx="0" cy="1188720"/>
          </a:xfrm>
          <a:prstGeom prst="line">
            <a:avLst/>
          </a:prstGeom>
          <a:noFill/>
          <a:ln w="12700">
            <a:solidFill>
              <a:srgbClr val="475569"/>
            </a:solidFill>
            <a:prstDash val="solid"/>
          </a:ln>
        </p:spPr>
      </p:sp>
      <p:sp>
        <p:nvSpPr>
          <p:cNvPr id="31" name="Shape 28"/>
          <p:cNvSpPr/>
          <p:nvPr/>
        </p:nvSpPr>
        <p:spPr>
          <a:xfrm>
            <a:off x="7406640" y="1554480"/>
            <a:ext cx="0" cy="1188720"/>
          </a:xfrm>
          <a:prstGeom prst="line">
            <a:avLst/>
          </a:prstGeom>
          <a:noFill/>
          <a:ln w="12700">
            <a:solidFill>
              <a:srgbClr val="475569"/>
            </a:solidFill>
            <a:prstDash val="solid"/>
          </a:ln>
        </p:spPr>
      </p:sp>
      <p:sp>
        <p:nvSpPr>
          <p:cNvPr id="32" name="Shape 29"/>
          <p:cNvSpPr/>
          <p:nvPr/>
        </p:nvSpPr>
        <p:spPr>
          <a:xfrm>
            <a:off x="5760720" y="1554480"/>
            <a:ext cx="1645920" cy="1188720"/>
          </a:xfrm>
          <a:prstGeom prst="line">
            <a:avLst/>
          </a:prstGeom>
          <a:noFill/>
          <a:ln w="12700">
            <a:solidFill>
              <a:srgbClr val="475569"/>
            </a:solidFill>
            <a:prstDash val="solid"/>
          </a:ln>
        </p:spPr>
      </p:sp>
      <p:sp>
        <p:nvSpPr>
          <p:cNvPr id="33" name="Shape 30"/>
          <p:cNvSpPr/>
          <p:nvPr/>
        </p:nvSpPr>
        <p:spPr>
          <a:xfrm flipH="1">
            <a:off x="5760720" y="1554480"/>
            <a:ext cx="1645920" cy="1188720"/>
          </a:xfrm>
          <a:prstGeom prst="line">
            <a:avLst/>
          </a:prstGeom>
          <a:noFill/>
          <a:ln w="12700">
            <a:solidFill>
              <a:srgbClr val="475569"/>
            </a:solidFill>
            <a:prstDash val="solid"/>
          </a:ln>
        </p:spPr>
      </p:sp>
      <p:sp>
        <p:nvSpPr>
          <p:cNvPr id="34" name="Shape 31"/>
          <p:cNvSpPr/>
          <p:nvPr/>
        </p:nvSpPr>
        <p:spPr>
          <a:xfrm>
            <a:off x="4983480" y="1554480"/>
            <a:ext cx="777240" cy="0"/>
          </a:xfrm>
          <a:prstGeom prst="line">
            <a:avLst/>
          </a:prstGeom>
          <a:noFill/>
          <a:ln w="44450">
            <a:solidFill>
              <a:srgbClr val="22D3EE"/>
            </a:solidFill>
            <a:prstDash val="solid"/>
          </a:ln>
        </p:spPr>
      </p:sp>
      <p:sp>
        <p:nvSpPr>
          <p:cNvPr id="35" name="Shape 32"/>
          <p:cNvSpPr/>
          <p:nvPr/>
        </p:nvSpPr>
        <p:spPr>
          <a:xfrm>
            <a:off x="5760720" y="1554480"/>
            <a:ext cx="0" cy="1188720"/>
          </a:xfrm>
          <a:prstGeom prst="line">
            <a:avLst/>
          </a:prstGeom>
          <a:noFill/>
          <a:ln w="44450">
            <a:solidFill>
              <a:srgbClr val="22D3EE"/>
            </a:solidFill>
            <a:prstDash val="solid"/>
          </a:ln>
        </p:spPr>
      </p:sp>
      <p:sp>
        <p:nvSpPr>
          <p:cNvPr id="36" name="Shape 33"/>
          <p:cNvSpPr/>
          <p:nvPr/>
        </p:nvSpPr>
        <p:spPr>
          <a:xfrm flipV="1">
            <a:off x="5760720" y="1554480"/>
            <a:ext cx="1645920" cy="1188720"/>
          </a:xfrm>
          <a:prstGeom prst="line">
            <a:avLst/>
          </a:prstGeom>
          <a:noFill/>
          <a:ln w="44450">
            <a:solidFill>
              <a:srgbClr val="22D3EE"/>
            </a:solidFill>
            <a:prstDash val="solid"/>
          </a:ln>
        </p:spPr>
      </p:sp>
      <p:sp>
        <p:nvSpPr>
          <p:cNvPr id="37" name="Shape 34"/>
          <p:cNvSpPr/>
          <p:nvPr/>
        </p:nvSpPr>
        <p:spPr>
          <a:xfrm>
            <a:off x="7406640" y="1554480"/>
            <a:ext cx="502920" cy="0"/>
          </a:xfrm>
          <a:prstGeom prst="line">
            <a:avLst/>
          </a:prstGeom>
          <a:noFill/>
          <a:ln w="44450">
            <a:solidFill>
              <a:srgbClr val="22D3EE"/>
            </a:solidFill>
            <a:prstDash val="solid"/>
          </a:ln>
        </p:spPr>
      </p:sp>
      <p:sp>
        <p:nvSpPr>
          <p:cNvPr id="38" name="Shape 35"/>
          <p:cNvSpPr/>
          <p:nvPr/>
        </p:nvSpPr>
        <p:spPr>
          <a:xfrm>
            <a:off x="5760720" y="1554480"/>
            <a:ext cx="1645920" cy="0"/>
          </a:xfrm>
          <a:prstGeom prst="line">
            <a:avLst/>
          </a:prstGeom>
          <a:noFill/>
          <a:ln w="25400">
            <a:solidFill>
              <a:srgbClr val="F87171"/>
            </a:solidFill>
            <a:prstDash val="dash"/>
          </a:ln>
        </p:spPr>
      </p:sp>
      <p:sp>
        <p:nvSpPr>
          <p:cNvPr id="39" name="Text 36"/>
          <p:cNvSpPr txBox="1"/>
          <p:nvPr/>
        </p:nvSpPr>
        <p:spPr>
          <a:xfrm>
            <a:off x="6446520" y="1143000"/>
            <a:ext cx="274320" cy="274320"/>
          </a:xfrm>
          <a:prstGeom prst="rect">
            <a:avLst/>
          </a:prstGeom>
          <a:noFill/>
          <a:ln/>
        </p:spPr>
        <p:txBody>
          <a:bodyPr wrap="square" lIns="0" tIns="0" rIns="0" bIns="0" rtlCol="0" anchor="t"/>
          <a:lstStyle/>
          <a:p>
            <a:pPr marL="0" indent="0" algn="ctr">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40" name="Shape 37"/>
          <p:cNvSpPr/>
          <p:nvPr/>
        </p:nvSpPr>
        <p:spPr>
          <a:xfrm>
            <a:off x="5486400" y="1371600"/>
            <a:ext cx="548640" cy="365760"/>
          </a:xfrm>
          <a:prstGeom prst="roundRect">
            <a:avLst>
              <a:gd name="adj" fmla="val 15000"/>
            </a:avLst>
          </a:prstGeom>
          <a:solidFill>
            <a:srgbClr val="131C2E"/>
          </a:solidFill>
          <a:ln w="19050">
            <a:solidFill>
              <a:srgbClr val="22D3EE"/>
            </a:solidFill>
            <a:prstDash val="solid"/>
          </a:ln>
        </p:spPr>
      </p:sp>
      <p:sp>
        <p:nvSpPr>
          <p:cNvPr id="41" name="Text 38"/>
          <p:cNvSpPr txBox="1"/>
          <p:nvPr/>
        </p:nvSpPr>
        <p:spPr>
          <a:xfrm>
            <a:off x="5486400" y="1371600"/>
            <a:ext cx="548640" cy="36576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s1</a:t>
            </a:r>
            <a:endParaRPr lang="en-US" sz="1100" dirty="0"/>
          </a:p>
        </p:txBody>
      </p:sp>
      <p:sp>
        <p:nvSpPr>
          <p:cNvPr id="42" name="Shape 39"/>
          <p:cNvSpPr/>
          <p:nvPr/>
        </p:nvSpPr>
        <p:spPr>
          <a:xfrm>
            <a:off x="7132320" y="1371600"/>
            <a:ext cx="548640" cy="365760"/>
          </a:xfrm>
          <a:prstGeom prst="roundRect">
            <a:avLst>
              <a:gd name="adj" fmla="val 15000"/>
            </a:avLst>
          </a:prstGeom>
          <a:solidFill>
            <a:srgbClr val="131C2E"/>
          </a:solidFill>
          <a:ln w="19050">
            <a:solidFill>
              <a:srgbClr val="22D3EE"/>
            </a:solidFill>
            <a:prstDash val="solid"/>
          </a:ln>
        </p:spPr>
      </p:sp>
      <p:sp>
        <p:nvSpPr>
          <p:cNvPr id="43" name="Text 40"/>
          <p:cNvSpPr txBox="1"/>
          <p:nvPr/>
        </p:nvSpPr>
        <p:spPr>
          <a:xfrm>
            <a:off x="7132320" y="1371600"/>
            <a:ext cx="548640" cy="36576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s2</a:t>
            </a:r>
            <a:endParaRPr lang="en-US" sz="1100" dirty="0"/>
          </a:p>
        </p:txBody>
      </p:sp>
      <p:sp>
        <p:nvSpPr>
          <p:cNvPr id="44" name="Shape 41"/>
          <p:cNvSpPr/>
          <p:nvPr/>
        </p:nvSpPr>
        <p:spPr>
          <a:xfrm>
            <a:off x="5486400" y="2560320"/>
            <a:ext cx="548640" cy="365760"/>
          </a:xfrm>
          <a:prstGeom prst="roundRect">
            <a:avLst>
              <a:gd name="adj" fmla="val 15000"/>
            </a:avLst>
          </a:prstGeom>
          <a:solidFill>
            <a:srgbClr val="131C2E"/>
          </a:solidFill>
          <a:ln w="19050">
            <a:solidFill>
              <a:srgbClr val="22D3EE"/>
            </a:solidFill>
            <a:prstDash val="solid"/>
          </a:ln>
        </p:spPr>
      </p:sp>
      <p:sp>
        <p:nvSpPr>
          <p:cNvPr id="45" name="Text 42"/>
          <p:cNvSpPr txBox="1"/>
          <p:nvPr/>
        </p:nvSpPr>
        <p:spPr>
          <a:xfrm>
            <a:off x="5486400" y="2560320"/>
            <a:ext cx="548640" cy="36576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s3</a:t>
            </a:r>
            <a:endParaRPr lang="en-US" sz="1100" dirty="0"/>
          </a:p>
        </p:txBody>
      </p:sp>
      <p:sp>
        <p:nvSpPr>
          <p:cNvPr id="46" name="Shape 43"/>
          <p:cNvSpPr/>
          <p:nvPr/>
        </p:nvSpPr>
        <p:spPr>
          <a:xfrm>
            <a:off x="7132320" y="2560320"/>
            <a:ext cx="548640" cy="365760"/>
          </a:xfrm>
          <a:prstGeom prst="roundRect">
            <a:avLst>
              <a:gd name="adj" fmla="val 15000"/>
            </a:avLst>
          </a:prstGeom>
          <a:solidFill>
            <a:srgbClr val="131C2E"/>
          </a:solidFill>
          <a:ln w="19050">
            <a:solidFill>
              <a:srgbClr val="22D3EE"/>
            </a:solidFill>
            <a:prstDash val="solid"/>
          </a:ln>
        </p:spPr>
      </p:sp>
      <p:sp>
        <p:nvSpPr>
          <p:cNvPr id="47" name="Text 44"/>
          <p:cNvSpPr txBox="1"/>
          <p:nvPr/>
        </p:nvSpPr>
        <p:spPr>
          <a:xfrm>
            <a:off x="7132320" y="2560320"/>
            <a:ext cx="548640" cy="36576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s4</a:t>
            </a:r>
            <a:endParaRPr lang="en-US" sz="1100" dirty="0"/>
          </a:p>
        </p:txBody>
      </p:sp>
      <p:sp>
        <p:nvSpPr>
          <p:cNvPr id="48" name="Shape 45"/>
          <p:cNvSpPr/>
          <p:nvPr/>
        </p:nvSpPr>
        <p:spPr>
          <a:xfrm>
            <a:off x="4983480" y="1371600"/>
            <a:ext cx="457200" cy="365760"/>
          </a:xfrm>
          <a:prstGeom prst="roundRect">
            <a:avLst>
              <a:gd name="adj" fmla="val 15000"/>
            </a:avLst>
          </a:prstGeom>
          <a:solidFill>
            <a:srgbClr val="131C2E"/>
          </a:solidFill>
          <a:ln w="19050">
            <a:solidFill>
              <a:srgbClr val="4ADE80"/>
            </a:solidFill>
            <a:prstDash val="solid"/>
          </a:ln>
        </p:spPr>
      </p:sp>
      <p:sp>
        <p:nvSpPr>
          <p:cNvPr id="49" name="Text 46"/>
          <p:cNvSpPr txBox="1"/>
          <p:nvPr/>
        </p:nvSpPr>
        <p:spPr>
          <a:xfrm>
            <a:off x="4983480" y="1371600"/>
            <a:ext cx="457200" cy="365760"/>
          </a:xfrm>
          <a:prstGeom prst="rect">
            <a:avLst/>
          </a:prstGeom>
          <a:noFill/>
          <a:ln/>
        </p:spPr>
        <p:txBody>
          <a:bodyPr wrap="square" lIns="0" tIns="0" rIns="0" bIns="0" rtlCol="0" anchor="ctr"/>
          <a:lstStyle/>
          <a:p>
            <a:pPr marL="0" indent="0" algn="ctr">
              <a:buNone/>
            </a:pPr>
            <a:r>
              <a:rPr lang="en-US" sz="1000" b="1" dirty="0">
                <a:solidFill>
                  <a:srgbClr val="E5E7EB"/>
                </a:solidFill>
                <a:latin typeface="Calibri" pitchFamily="34" charset="0"/>
                <a:ea typeface="Calibri" pitchFamily="34" charset="-122"/>
                <a:cs typeface="Calibri" pitchFamily="34" charset="-120"/>
              </a:rPr>
              <a:t>h1</a:t>
            </a:r>
            <a:endParaRPr lang="en-US" sz="1000" dirty="0"/>
          </a:p>
        </p:txBody>
      </p:sp>
      <p:sp>
        <p:nvSpPr>
          <p:cNvPr id="50" name="Shape 47"/>
          <p:cNvSpPr/>
          <p:nvPr/>
        </p:nvSpPr>
        <p:spPr>
          <a:xfrm>
            <a:off x="7680960" y="1371600"/>
            <a:ext cx="457200" cy="365760"/>
          </a:xfrm>
          <a:prstGeom prst="roundRect">
            <a:avLst>
              <a:gd name="adj" fmla="val 15000"/>
            </a:avLst>
          </a:prstGeom>
          <a:solidFill>
            <a:srgbClr val="131C2E"/>
          </a:solidFill>
          <a:ln w="19050">
            <a:solidFill>
              <a:srgbClr val="FBBF24"/>
            </a:solidFill>
            <a:prstDash val="solid"/>
          </a:ln>
        </p:spPr>
      </p:sp>
      <p:sp>
        <p:nvSpPr>
          <p:cNvPr id="51" name="Text 48"/>
          <p:cNvSpPr txBox="1"/>
          <p:nvPr/>
        </p:nvSpPr>
        <p:spPr>
          <a:xfrm>
            <a:off x="7680960" y="1371600"/>
            <a:ext cx="457200" cy="365760"/>
          </a:xfrm>
          <a:prstGeom prst="rect">
            <a:avLst/>
          </a:prstGeom>
          <a:noFill/>
          <a:ln/>
        </p:spPr>
        <p:txBody>
          <a:bodyPr wrap="square" lIns="0" tIns="0" rIns="0" bIns="0" rtlCol="0" anchor="ctr"/>
          <a:lstStyle/>
          <a:p>
            <a:pPr marL="0" indent="0" algn="ctr">
              <a:buNone/>
            </a:pPr>
            <a:r>
              <a:rPr lang="en-US" sz="1000" b="1" dirty="0">
                <a:solidFill>
                  <a:srgbClr val="E5E7EB"/>
                </a:solidFill>
                <a:latin typeface="Calibri" pitchFamily="34" charset="0"/>
                <a:ea typeface="Calibri" pitchFamily="34" charset="-122"/>
                <a:cs typeface="Calibri" pitchFamily="34" charset="-120"/>
              </a:rPr>
              <a:t>h3</a:t>
            </a:r>
            <a:endParaRPr lang="en-US" sz="1000" dirty="0"/>
          </a:p>
        </p:txBody>
      </p:sp>
      <p:sp>
        <p:nvSpPr>
          <p:cNvPr id="52" name="Shape 49"/>
          <p:cNvSpPr/>
          <p:nvPr/>
        </p:nvSpPr>
        <p:spPr>
          <a:xfrm>
            <a:off x="4069080" y="1828800"/>
            <a:ext cx="548640" cy="365760"/>
          </a:xfrm>
          <a:prstGeom prst="rightArrow">
            <a:avLst/>
          </a:prstGeom>
          <a:solidFill>
            <a:srgbClr val="A78BFA"/>
          </a:solidFill>
          <a:ln/>
        </p:spPr>
      </p:sp>
      <p:sp>
        <p:nvSpPr>
          <p:cNvPr id="53" name="Shape 50"/>
          <p:cNvSpPr/>
          <p:nvPr/>
        </p:nvSpPr>
        <p:spPr>
          <a:xfrm>
            <a:off x="457200" y="3429000"/>
            <a:ext cx="1463040" cy="502920"/>
          </a:xfrm>
          <a:prstGeom prst="roundRect">
            <a:avLst>
              <a:gd name="adj" fmla="val 10909"/>
            </a:avLst>
          </a:prstGeom>
          <a:solidFill>
            <a:srgbClr val="131C2E"/>
          </a:solidFill>
          <a:ln w="19050">
            <a:solidFill>
              <a:srgbClr val="A78BFA"/>
            </a:solidFill>
            <a:prstDash val="solid"/>
          </a:ln>
        </p:spPr>
      </p:sp>
      <p:sp>
        <p:nvSpPr>
          <p:cNvPr id="54" name="Text 51"/>
          <p:cNvSpPr txBox="1"/>
          <p:nvPr/>
        </p:nvSpPr>
        <p:spPr>
          <a:xfrm>
            <a:off x="457200" y="3429000"/>
            <a:ext cx="1463040" cy="502920"/>
          </a:xfrm>
          <a:prstGeom prst="rect">
            <a:avLst/>
          </a:prstGeom>
          <a:noFill/>
          <a:ln/>
        </p:spPr>
        <p:txBody>
          <a:bodyPr wrap="square" lIns="0" tIns="0" rIns="0" bIns="0" rtlCol="0" anchor="ctr"/>
          <a:lstStyle/>
          <a:p>
            <a:pPr marL="0" indent="0" algn="ctr">
              <a:buNone/>
            </a:pPr>
            <a:r>
              <a:rPr lang="en-US" sz="1000" b="1" dirty="0">
                <a:solidFill>
                  <a:srgbClr val="E5E7EB"/>
                </a:solidFill>
                <a:latin typeface="Calibri" pitchFamily="34" charset="0"/>
                <a:ea typeface="Calibri" pitchFamily="34" charset="-122"/>
                <a:cs typeface="Calibri" pitchFamily="34" charset="-120"/>
              </a:rPr>
              <a:t>Port goes down</a:t>
            </a:r>
            <a:endParaRPr lang="en-US" sz="1000" dirty="0"/>
          </a:p>
        </p:txBody>
      </p:sp>
      <p:sp>
        <p:nvSpPr>
          <p:cNvPr id="55" name="Shape 52"/>
          <p:cNvSpPr/>
          <p:nvPr/>
        </p:nvSpPr>
        <p:spPr>
          <a:xfrm>
            <a:off x="1920240" y="3675888"/>
            <a:ext cx="228600" cy="0"/>
          </a:xfrm>
          <a:prstGeom prst="line">
            <a:avLst/>
          </a:prstGeom>
          <a:noFill/>
          <a:ln w="19050">
            <a:solidFill>
              <a:srgbClr val="A78BFA"/>
            </a:solidFill>
            <a:prstDash val="solid"/>
            <a:tailEnd type="triangle"/>
          </a:ln>
        </p:spPr>
      </p:sp>
      <p:sp>
        <p:nvSpPr>
          <p:cNvPr id="56" name="Shape 53"/>
          <p:cNvSpPr/>
          <p:nvPr/>
        </p:nvSpPr>
        <p:spPr>
          <a:xfrm>
            <a:off x="2148840" y="3429000"/>
            <a:ext cx="1463040" cy="502920"/>
          </a:xfrm>
          <a:prstGeom prst="roundRect">
            <a:avLst>
              <a:gd name="adj" fmla="val 10909"/>
            </a:avLst>
          </a:prstGeom>
          <a:solidFill>
            <a:srgbClr val="131C2E"/>
          </a:solidFill>
          <a:ln w="19050">
            <a:solidFill>
              <a:srgbClr val="A78BFA"/>
            </a:solidFill>
            <a:prstDash val="solid"/>
          </a:ln>
        </p:spPr>
      </p:sp>
      <p:sp>
        <p:nvSpPr>
          <p:cNvPr id="57" name="Text 54"/>
          <p:cNvSpPr txBox="1"/>
          <p:nvPr/>
        </p:nvSpPr>
        <p:spPr>
          <a:xfrm>
            <a:off x="2148840" y="3429000"/>
            <a:ext cx="1463040" cy="502920"/>
          </a:xfrm>
          <a:prstGeom prst="rect">
            <a:avLst/>
          </a:prstGeom>
          <a:noFill/>
          <a:ln/>
        </p:spPr>
        <p:txBody>
          <a:bodyPr wrap="square" lIns="0" tIns="0" rIns="0" bIns="0" rtlCol="0" anchor="ctr"/>
          <a:lstStyle/>
          <a:p>
            <a:pPr marL="0" indent="0" algn="ctr">
              <a:buNone/>
            </a:pPr>
            <a:r>
              <a:rPr lang="en-US" sz="1000" b="1" dirty="0">
                <a:solidFill>
                  <a:srgbClr val="E5E7EB"/>
                </a:solidFill>
                <a:latin typeface="Calibri" pitchFamily="34" charset="0"/>
                <a:ea typeface="Calibri" pitchFamily="34" charset="-122"/>
                <a:cs typeface="Calibri" pitchFamily="34" charset="-120"/>
              </a:rPr>
              <a:t>OFPPortStatus to Ryu</a:t>
            </a:r>
            <a:endParaRPr lang="en-US" sz="1000" dirty="0"/>
          </a:p>
        </p:txBody>
      </p:sp>
      <p:sp>
        <p:nvSpPr>
          <p:cNvPr id="58" name="Shape 55"/>
          <p:cNvSpPr/>
          <p:nvPr/>
        </p:nvSpPr>
        <p:spPr>
          <a:xfrm>
            <a:off x="3611880" y="3675888"/>
            <a:ext cx="228600" cy="0"/>
          </a:xfrm>
          <a:prstGeom prst="line">
            <a:avLst/>
          </a:prstGeom>
          <a:noFill/>
          <a:ln w="19050">
            <a:solidFill>
              <a:srgbClr val="A78BFA"/>
            </a:solidFill>
            <a:prstDash val="solid"/>
            <a:tailEnd type="triangle"/>
          </a:ln>
        </p:spPr>
      </p:sp>
      <p:sp>
        <p:nvSpPr>
          <p:cNvPr id="59" name="Shape 56"/>
          <p:cNvSpPr/>
          <p:nvPr/>
        </p:nvSpPr>
        <p:spPr>
          <a:xfrm>
            <a:off x="3840480" y="3429000"/>
            <a:ext cx="1463040" cy="502920"/>
          </a:xfrm>
          <a:prstGeom prst="roundRect">
            <a:avLst>
              <a:gd name="adj" fmla="val 10909"/>
            </a:avLst>
          </a:prstGeom>
          <a:solidFill>
            <a:srgbClr val="131C2E"/>
          </a:solidFill>
          <a:ln w="19050">
            <a:solidFill>
              <a:srgbClr val="A78BFA"/>
            </a:solidFill>
            <a:prstDash val="solid"/>
          </a:ln>
        </p:spPr>
      </p:sp>
      <p:sp>
        <p:nvSpPr>
          <p:cNvPr id="60" name="Text 57"/>
          <p:cNvSpPr txBox="1"/>
          <p:nvPr/>
        </p:nvSpPr>
        <p:spPr>
          <a:xfrm>
            <a:off x="3840480" y="3429000"/>
            <a:ext cx="1463040" cy="502920"/>
          </a:xfrm>
          <a:prstGeom prst="rect">
            <a:avLst/>
          </a:prstGeom>
          <a:noFill/>
          <a:ln/>
        </p:spPr>
        <p:txBody>
          <a:bodyPr wrap="square" lIns="0" tIns="0" rIns="0" bIns="0" rtlCol="0" anchor="ctr"/>
          <a:lstStyle/>
          <a:p>
            <a:pPr marL="0" indent="0" algn="ctr">
              <a:buNone/>
            </a:pPr>
            <a:r>
              <a:rPr lang="en-US" sz="1000" b="1" dirty="0">
                <a:solidFill>
                  <a:srgbClr val="E5E7EB"/>
                </a:solidFill>
                <a:latin typeface="Calibri" pitchFamily="34" charset="0"/>
                <a:ea typeface="Calibri" pitchFamily="34" charset="-122"/>
                <a:cs typeface="Calibri" pitchFamily="34" charset="-120"/>
              </a:rPr>
              <a:t>Edge removed from graph</a:t>
            </a:r>
            <a:endParaRPr lang="en-US" sz="1000" dirty="0"/>
          </a:p>
        </p:txBody>
      </p:sp>
      <p:sp>
        <p:nvSpPr>
          <p:cNvPr id="61" name="Shape 58"/>
          <p:cNvSpPr/>
          <p:nvPr/>
        </p:nvSpPr>
        <p:spPr>
          <a:xfrm>
            <a:off x="5303520" y="3675888"/>
            <a:ext cx="228600" cy="0"/>
          </a:xfrm>
          <a:prstGeom prst="line">
            <a:avLst/>
          </a:prstGeom>
          <a:noFill/>
          <a:ln w="19050">
            <a:solidFill>
              <a:srgbClr val="A78BFA"/>
            </a:solidFill>
            <a:prstDash val="solid"/>
            <a:tailEnd type="triangle"/>
          </a:ln>
        </p:spPr>
      </p:sp>
      <p:sp>
        <p:nvSpPr>
          <p:cNvPr id="62" name="Shape 59"/>
          <p:cNvSpPr/>
          <p:nvPr/>
        </p:nvSpPr>
        <p:spPr>
          <a:xfrm>
            <a:off x="5532120" y="3429000"/>
            <a:ext cx="1463040" cy="502920"/>
          </a:xfrm>
          <a:prstGeom prst="roundRect">
            <a:avLst>
              <a:gd name="adj" fmla="val 10909"/>
            </a:avLst>
          </a:prstGeom>
          <a:solidFill>
            <a:srgbClr val="131C2E"/>
          </a:solidFill>
          <a:ln w="19050">
            <a:solidFill>
              <a:srgbClr val="A78BFA"/>
            </a:solidFill>
            <a:prstDash val="solid"/>
          </a:ln>
        </p:spPr>
      </p:sp>
      <p:sp>
        <p:nvSpPr>
          <p:cNvPr id="63" name="Text 60"/>
          <p:cNvSpPr txBox="1"/>
          <p:nvPr/>
        </p:nvSpPr>
        <p:spPr>
          <a:xfrm>
            <a:off x="5532120" y="3429000"/>
            <a:ext cx="1463040" cy="502920"/>
          </a:xfrm>
          <a:prstGeom prst="rect">
            <a:avLst/>
          </a:prstGeom>
          <a:noFill/>
          <a:ln/>
        </p:spPr>
        <p:txBody>
          <a:bodyPr wrap="square" lIns="0" tIns="0" rIns="0" bIns="0" rtlCol="0" anchor="ctr"/>
          <a:lstStyle/>
          <a:p>
            <a:pPr marL="0" indent="0" algn="ctr">
              <a:buNone/>
            </a:pPr>
            <a:r>
              <a:rPr lang="en-US" sz="1000" b="1" dirty="0">
                <a:solidFill>
                  <a:srgbClr val="E5E7EB"/>
                </a:solidFill>
                <a:latin typeface="Calibri" pitchFamily="34" charset="0"/>
                <a:ea typeface="Calibri" pitchFamily="34" charset="-122"/>
                <a:cs typeface="Calibri" pitchFamily="34" charset="-120"/>
              </a:rPr>
              <a:t>Dijkstra recompute</a:t>
            </a:r>
            <a:endParaRPr lang="en-US" sz="1000" dirty="0"/>
          </a:p>
        </p:txBody>
      </p:sp>
      <p:sp>
        <p:nvSpPr>
          <p:cNvPr id="64" name="Shape 61"/>
          <p:cNvSpPr/>
          <p:nvPr/>
        </p:nvSpPr>
        <p:spPr>
          <a:xfrm>
            <a:off x="6995160" y="3675888"/>
            <a:ext cx="228600" cy="0"/>
          </a:xfrm>
          <a:prstGeom prst="line">
            <a:avLst/>
          </a:prstGeom>
          <a:noFill/>
          <a:ln w="19050">
            <a:solidFill>
              <a:srgbClr val="A78BFA"/>
            </a:solidFill>
            <a:prstDash val="solid"/>
            <a:tailEnd type="triangle"/>
          </a:ln>
        </p:spPr>
      </p:sp>
      <p:sp>
        <p:nvSpPr>
          <p:cNvPr id="65" name="Shape 62"/>
          <p:cNvSpPr/>
          <p:nvPr/>
        </p:nvSpPr>
        <p:spPr>
          <a:xfrm>
            <a:off x="7223760" y="3429000"/>
            <a:ext cx="1463040" cy="502920"/>
          </a:xfrm>
          <a:prstGeom prst="roundRect">
            <a:avLst>
              <a:gd name="adj" fmla="val 10909"/>
            </a:avLst>
          </a:prstGeom>
          <a:solidFill>
            <a:srgbClr val="131C2E"/>
          </a:solidFill>
          <a:ln w="19050">
            <a:solidFill>
              <a:srgbClr val="A78BFA"/>
            </a:solidFill>
            <a:prstDash val="solid"/>
          </a:ln>
        </p:spPr>
      </p:sp>
      <p:sp>
        <p:nvSpPr>
          <p:cNvPr id="66" name="Text 63"/>
          <p:cNvSpPr txBox="1"/>
          <p:nvPr/>
        </p:nvSpPr>
        <p:spPr>
          <a:xfrm>
            <a:off x="7223760" y="3429000"/>
            <a:ext cx="1463040" cy="502920"/>
          </a:xfrm>
          <a:prstGeom prst="rect">
            <a:avLst/>
          </a:prstGeom>
          <a:noFill/>
          <a:ln/>
        </p:spPr>
        <p:txBody>
          <a:bodyPr wrap="square" lIns="0" tIns="0" rIns="0" bIns="0" rtlCol="0" anchor="ctr"/>
          <a:lstStyle/>
          <a:p>
            <a:pPr marL="0" indent="0" algn="ctr">
              <a:buNone/>
            </a:pPr>
            <a:r>
              <a:rPr lang="en-US" sz="1000" b="1" dirty="0">
                <a:solidFill>
                  <a:srgbClr val="E5E7EB"/>
                </a:solidFill>
                <a:latin typeface="Calibri" pitchFamily="34" charset="0"/>
                <a:ea typeface="Calibri" pitchFamily="34" charset="-122"/>
                <a:cs typeface="Calibri" pitchFamily="34" charset="-120"/>
              </a:rPr>
              <a:t>New flow rules to switches</a:t>
            </a:r>
            <a:endParaRPr lang="en-US" sz="1000" dirty="0"/>
          </a:p>
        </p:txBody>
      </p:sp>
      <p:sp>
        <p:nvSpPr>
          <p:cNvPr id="67" name="Text 64"/>
          <p:cNvSpPr txBox="1"/>
          <p:nvPr/>
        </p:nvSpPr>
        <p:spPr>
          <a:xfrm>
            <a:off x="457200" y="4114800"/>
            <a:ext cx="8229600" cy="502920"/>
          </a:xfrm>
          <a:prstGeom prst="rect">
            <a:avLst/>
          </a:prstGeom>
          <a:noFill/>
          <a:ln/>
        </p:spPr>
        <p:txBody>
          <a:bodyPr wrap="square" lIns="0" tIns="0" rIns="0" bIns="0" rtlCol="0" anchor="t"/>
          <a:lstStyle/>
          <a:p>
            <a:pPr marL="0" indent="0">
              <a:buNone/>
            </a:pPr>
            <a:r>
              <a:rPr lang="en-US" sz="1200" dirty="0">
                <a:solidFill>
                  <a:srgbClr val="FBBF24"/>
                </a:solidFill>
                <a:latin typeface="Calibri" pitchFamily="34" charset="0"/>
                <a:ea typeface="Calibri" pitchFamily="34" charset="-122"/>
                <a:cs typeface="Calibri" pitchFamily="34" charset="-120"/>
              </a:rPr>
              <a:t>Illustrative: assumes hop-count weights; the alternate may run via s3 or s4. Confirm in controller log. Limitation: a static flow table would not recompute.</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02920"/>
          </a:xfrm>
          <a:prstGeom prst="rect">
            <a:avLst/>
          </a:prstGeom>
          <a:noFill/>
          <a:ln/>
        </p:spPr>
        <p:txBody>
          <a:bodyPr wrap="square" lIns="0" tIns="0" rIns="0" bIns="0" rtlCol="0" anchor="ctr"/>
          <a:lstStyle/>
          <a:p>
            <a:pPr marL="0" indent="0">
              <a:buNone/>
            </a:pPr>
            <a:r>
              <a:rPr lang="en-US" sz="2600" b="1" dirty="0">
                <a:solidFill>
                  <a:srgbClr val="E5E7EB"/>
                </a:solidFill>
                <a:latin typeface="Calibri" pitchFamily="34" charset="0"/>
                <a:ea typeface="Calibri" pitchFamily="34" charset="-122"/>
                <a:cs typeface="Calibri" pitchFamily="34" charset="-120"/>
              </a:rPr>
              <a:t>Socket–SDN Integration and End-to-End Workflow</a:t>
            </a:r>
            <a:endParaRPr lang="en-US" sz="2600" dirty="0"/>
          </a:p>
        </p:txBody>
      </p:sp>
      <p:sp>
        <p:nvSpPr>
          <p:cNvPr id="3" name="Text 1"/>
          <p:cNvSpPr txBox="1"/>
          <p:nvPr/>
        </p:nvSpPr>
        <p:spPr>
          <a:xfrm>
            <a:off x="457200" y="4800600"/>
            <a:ext cx="8229600" cy="228600"/>
          </a:xfrm>
          <a:prstGeom prst="rect">
            <a:avLst/>
          </a:prstGeom>
          <a:noFill/>
          <a:ln/>
        </p:spPr>
        <p:txBody>
          <a:bodyPr wrap="square" lIns="0" tIns="0" rIns="0" bIns="0" rtlCol="0" anchor="t"/>
          <a:lstStyle/>
          <a:p>
            <a:pPr marL="0" indent="0">
              <a:buNone/>
            </a:pPr>
            <a:endParaRPr lang="en-US" sz="1000" dirty="0"/>
          </a:p>
        </p:txBody>
      </p:sp>
      <p:sp>
        <p:nvSpPr>
          <p:cNvPr id="5" name="Text 2"/>
          <p:cNvSpPr txBox="1"/>
          <p:nvPr/>
        </p:nvSpPr>
        <p:spPr>
          <a:xfrm>
            <a:off x="457200" y="914400"/>
            <a:ext cx="5486400" cy="228600"/>
          </a:xfrm>
          <a:prstGeom prst="rect">
            <a:avLst/>
          </a:prstGeom>
          <a:noFill/>
          <a:ln/>
        </p:spPr>
        <p:txBody>
          <a:bodyPr wrap="square" lIns="0" tIns="0" rIns="0" bIns="0" rtlCol="0" anchor="t"/>
          <a:lstStyle/>
          <a:p>
            <a:pPr marL="0" indent="0">
              <a:buNone/>
            </a:pPr>
            <a:r>
              <a:rPr lang="en-US" sz="1200" b="1" dirty="0">
                <a:solidFill>
                  <a:srgbClr val="4ADE80"/>
                </a:solidFill>
                <a:latin typeface="Calibri" pitchFamily="34" charset="0"/>
                <a:ea typeface="Calibri" pitchFamily="34" charset="-122"/>
                <a:cs typeface="Calibri" pitchFamily="34" charset="-120"/>
              </a:rPr>
              <a:t>APPLICATION LAYER (client h1 to server h3)</a:t>
            </a:r>
            <a:endParaRPr lang="en-US" sz="1200" dirty="0"/>
          </a:p>
        </p:txBody>
      </p:sp>
      <p:sp>
        <p:nvSpPr>
          <p:cNvPr id="6" name="Shape 3"/>
          <p:cNvSpPr/>
          <p:nvPr/>
        </p:nvSpPr>
        <p:spPr>
          <a:xfrm>
            <a:off x="457200" y="1188720"/>
            <a:ext cx="1828800" cy="640080"/>
          </a:xfrm>
          <a:prstGeom prst="roundRect">
            <a:avLst>
              <a:gd name="adj" fmla="val 8571"/>
            </a:avLst>
          </a:prstGeom>
          <a:solidFill>
            <a:srgbClr val="131C2E"/>
          </a:solidFill>
          <a:ln w="19050">
            <a:solidFill>
              <a:srgbClr val="4ADE80"/>
            </a:solidFill>
            <a:prstDash val="solid"/>
          </a:ln>
        </p:spPr>
      </p:sp>
      <p:sp>
        <p:nvSpPr>
          <p:cNvPr id="7" name="Text 4"/>
          <p:cNvSpPr txBox="1"/>
          <p:nvPr/>
        </p:nvSpPr>
        <p:spPr>
          <a:xfrm>
            <a:off x="457200" y="1188720"/>
            <a:ext cx="1828800" cy="64008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1  Client chunks file,</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computes CRC32</a:t>
            </a:r>
            <a:endParaRPr lang="en-US" sz="1100" dirty="0"/>
          </a:p>
        </p:txBody>
      </p:sp>
      <p:sp>
        <p:nvSpPr>
          <p:cNvPr id="8" name="Shape 5"/>
          <p:cNvSpPr/>
          <p:nvPr/>
        </p:nvSpPr>
        <p:spPr>
          <a:xfrm>
            <a:off x="2286000" y="1508760"/>
            <a:ext cx="274320" cy="0"/>
          </a:xfrm>
          <a:prstGeom prst="line">
            <a:avLst/>
          </a:prstGeom>
          <a:noFill/>
          <a:ln w="19050">
            <a:solidFill>
              <a:srgbClr val="4ADE80"/>
            </a:solidFill>
            <a:prstDash val="solid"/>
            <a:tailEnd type="triangle"/>
          </a:ln>
        </p:spPr>
      </p:sp>
      <p:sp>
        <p:nvSpPr>
          <p:cNvPr id="9" name="Shape 6"/>
          <p:cNvSpPr/>
          <p:nvPr/>
        </p:nvSpPr>
        <p:spPr>
          <a:xfrm>
            <a:off x="2560320" y="1188720"/>
            <a:ext cx="1828800" cy="640080"/>
          </a:xfrm>
          <a:prstGeom prst="roundRect">
            <a:avLst>
              <a:gd name="adj" fmla="val 8571"/>
            </a:avLst>
          </a:prstGeom>
          <a:solidFill>
            <a:srgbClr val="131C2E"/>
          </a:solidFill>
          <a:ln w="19050">
            <a:solidFill>
              <a:srgbClr val="4ADE80"/>
            </a:solidFill>
            <a:prstDash val="solid"/>
          </a:ln>
        </p:spPr>
      </p:sp>
      <p:sp>
        <p:nvSpPr>
          <p:cNvPr id="10" name="Text 7"/>
          <p:cNvSpPr txBox="1"/>
          <p:nvPr/>
        </p:nvSpPr>
        <p:spPr>
          <a:xfrm>
            <a:off x="2560320" y="1188720"/>
            <a:ext cx="1828800" cy="64008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2  TCP connect</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to server :9000</a:t>
            </a:r>
            <a:endParaRPr lang="en-US" sz="1100" dirty="0"/>
          </a:p>
        </p:txBody>
      </p:sp>
      <p:sp>
        <p:nvSpPr>
          <p:cNvPr id="11" name="Shape 8"/>
          <p:cNvSpPr/>
          <p:nvPr/>
        </p:nvSpPr>
        <p:spPr>
          <a:xfrm>
            <a:off x="4389120" y="1508760"/>
            <a:ext cx="274320" cy="0"/>
          </a:xfrm>
          <a:prstGeom prst="line">
            <a:avLst/>
          </a:prstGeom>
          <a:noFill/>
          <a:ln w="19050">
            <a:solidFill>
              <a:srgbClr val="4ADE80"/>
            </a:solidFill>
            <a:prstDash val="solid"/>
            <a:tailEnd type="triangle"/>
          </a:ln>
        </p:spPr>
      </p:sp>
      <p:sp>
        <p:nvSpPr>
          <p:cNvPr id="12" name="Shape 9"/>
          <p:cNvSpPr/>
          <p:nvPr/>
        </p:nvSpPr>
        <p:spPr>
          <a:xfrm>
            <a:off x="4663440" y="1188720"/>
            <a:ext cx="1828800" cy="640080"/>
          </a:xfrm>
          <a:prstGeom prst="roundRect">
            <a:avLst>
              <a:gd name="adj" fmla="val 8571"/>
            </a:avLst>
          </a:prstGeom>
          <a:solidFill>
            <a:srgbClr val="131C2E"/>
          </a:solidFill>
          <a:ln w="19050">
            <a:solidFill>
              <a:srgbClr val="4ADE80"/>
            </a:solidFill>
            <a:prstDash val="solid"/>
          </a:ln>
        </p:spPr>
      </p:sp>
      <p:sp>
        <p:nvSpPr>
          <p:cNvPr id="13" name="Text 10"/>
          <p:cNvSpPr txBox="1"/>
          <p:nvPr/>
        </p:nvSpPr>
        <p:spPr>
          <a:xfrm>
            <a:off x="4663440" y="1188720"/>
            <a:ext cx="1828800" cy="64008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3  Server verifies,</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stores, ACKs</a:t>
            </a:r>
            <a:endParaRPr lang="en-US" sz="1100" dirty="0"/>
          </a:p>
        </p:txBody>
      </p:sp>
      <p:sp>
        <p:nvSpPr>
          <p:cNvPr id="14" name="Shape 11"/>
          <p:cNvSpPr/>
          <p:nvPr/>
        </p:nvSpPr>
        <p:spPr>
          <a:xfrm>
            <a:off x="6492240" y="1508760"/>
            <a:ext cx="274320" cy="0"/>
          </a:xfrm>
          <a:prstGeom prst="line">
            <a:avLst/>
          </a:prstGeom>
          <a:noFill/>
          <a:ln w="19050">
            <a:solidFill>
              <a:srgbClr val="4ADE80"/>
            </a:solidFill>
            <a:prstDash val="solid"/>
            <a:tailEnd type="triangle"/>
          </a:ln>
        </p:spPr>
      </p:sp>
      <p:sp>
        <p:nvSpPr>
          <p:cNvPr id="15" name="Shape 12"/>
          <p:cNvSpPr/>
          <p:nvPr/>
        </p:nvSpPr>
        <p:spPr>
          <a:xfrm>
            <a:off x="6766560" y="1188720"/>
            <a:ext cx="1828800" cy="640080"/>
          </a:xfrm>
          <a:prstGeom prst="roundRect">
            <a:avLst>
              <a:gd name="adj" fmla="val 8571"/>
            </a:avLst>
          </a:prstGeom>
          <a:solidFill>
            <a:srgbClr val="131C2E"/>
          </a:solidFill>
          <a:ln w="19050">
            <a:solidFill>
              <a:srgbClr val="4ADE80"/>
            </a:solidFill>
            <a:prstDash val="solid"/>
          </a:ln>
        </p:spPr>
      </p:sp>
      <p:sp>
        <p:nvSpPr>
          <p:cNvPr id="16" name="Text 13"/>
          <p:cNvSpPr txBox="1"/>
          <p:nvPr/>
        </p:nvSpPr>
        <p:spPr>
          <a:xfrm>
            <a:off x="6766560" y="1188720"/>
            <a:ext cx="1828800" cy="64008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4  On error: RESUME</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or failover to h4</a:t>
            </a:r>
            <a:endParaRPr lang="en-US" sz="1100" dirty="0"/>
          </a:p>
        </p:txBody>
      </p:sp>
      <p:sp>
        <p:nvSpPr>
          <p:cNvPr id="17" name="Text 14"/>
          <p:cNvSpPr txBox="1"/>
          <p:nvPr/>
        </p:nvSpPr>
        <p:spPr>
          <a:xfrm>
            <a:off x="457200" y="2103120"/>
            <a:ext cx="5486400" cy="228600"/>
          </a:xfrm>
          <a:prstGeom prst="rect">
            <a:avLst/>
          </a:prstGeom>
          <a:noFill/>
          <a:ln/>
        </p:spPr>
        <p:txBody>
          <a:bodyPr wrap="square" lIns="0" tIns="0" rIns="0" bIns="0" rtlCol="0" anchor="t"/>
          <a:lstStyle/>
          <a:p>
            <a:pPr marL="0" indent="0">
              <a:buNone/>
            </a:pPr>
            <a:r>
              <a:rPr lang="en-US" sz="1200" b="1" dirty="0">
                <a:solidFill>
                  <a:srgbClr val="A78BFA"/>
                </a:solidFill>
                <a:latin typeface="Calibri" pitchFamily="34" charset="0"/>
                <a:ea typeface="Calibri" pitchFamily="34" charset="-122"/>
                <a:cs typeface="Calibri" pitchFamily="34" charset="-120"/>
              </a:rPr>
              <a:t>NETWORK LAYER (Ryu + Open vSwitch)</a:t>
            </a:r>
            <a:endParaRPr lang="en-US" sz="1200" dirty="0"/>
          </a:p>
        </p:txBody>
      </p:sp>
      <p:sp>
        <p:nvSpPr>
          <p:cNvPr id="18" name="Shape 15"/>
          <p:cNvSpPr/>
          <p:nvPr/>
        </p:nvSpPr>
        <p:spPr>
          <a:xfrm>
            <a:off x="457200" y="2377440"/>
            <a:ext cx="1828800" cy="640080"/>
          </a:xfrm>
          <a:prstGeom prst="roundRect">
            <a:avLst>
              <a:gd name="adj" fmla="val 8571"/>
            </a:avLst>
          </a:prstGeom>
          <a:solidFill>
            <a:srgbClr val="131C2E"/>
          </a:solidFill>
          <a:ln w="19050">
            <a:solidFill>
              <a:srgbClr val="A78BFA"/>
            </a:solidFill>
            <a:prstDash val="solid"/>
          </a:ln>
        </p:spPr>
      </p:sp>
      <p:sp>
        <p:nvSpPr>
          <p:cNvPr id="19" name="Text 16"/>
          <p:cNvSpPr txBox="1"/>
          <p:nvPr/>
        </p:nvSpPr>
        <p:spPr>
          <a:xfrm>
            <a:off x="457200" y="2377440"/>
            <a:ext cx="1828800" cy="64008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Ryu installs Dijkstra</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path (FlowMods)</a:t>
            </a:r>
            <a:endParaRPr lang="en-US" sz="1100" dirty="0"/>
          </a:p>
        </p:txBody>
      </p:sp>
      <p:sp>
        <p:nvSpPr>
          <p:cNvPr id="20" name="Shape 17"/>
          <p:cNvSpPr/>
          <p:nvPr/>
        </p:nvSpPr>
        <p:spPr>
          <a:xfrm>
            <a:off x="2286000" y="2697480"/>
            <a:ext cx="274320" cy="0"/>
          </a:xfrm>
          <a:prstGeom prst="line">
            <a:avLst/>
          </a:prstGeom>
          <a:noFill/>
          <a:ln w="19050">
            <a:solidFill>
              <a:srgbClr val="A78BFA"/>
            </a:solidFill>
            <a:prstDash val="solid"/>
            <a:tailEnd type="triangle"/>
          </a:ln>
        </p:spPr>
      </p:sp>
      <p:sp>
        <p:nvSpPr>
          <p:cNvPr id="21" name="Shape 18"/>
          <p:cNvSpPr/>
          <p:nvPr/>
        </p:nvSpPr>
        <p:spPr>
          <a:xfrm>
            <a:off x="2560320" y="2377440"/>
            <a:ext cx="1828800" cy="640080"/>
          </a:xfrm>
          <a:prstGeom prst="roundRect">
            <a:avLst>
              <a:gd name="adj" fmla="val 8571"/>
            </a:avLst>
          </a:prstGeom>
          <a:solidFill>
            <a:srgbClr val="131C2E"/>
          </a:solidFill>
          <a:ln w="19050">
            <a:solidFill>
              <a:srgbClr val="A78BFA"/>
            </a:solidFill>
            <a:prstDash val="solid"/>
          </a:ln>
        </p:spPr>
      </p:sp>
      <p:sp>
        <p:nvSpPr>
          <p:cNvPr id="22" name="Text 19"/>
          <p:cNvSpPr txBox="1"/>
          <p:nvPr/>
        </p:nvSpPr>
        <p:spPr>
          <a:xfrm>
            <a:off x="2560320" y="2377440"/>
            <a:ext cx="1828800" cy="64008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OVS forwards frames</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by flow table</a:t>
            </a:r>
            <a:endParaRPr lang="en-US" sz="1100" dirty="0"/>
          </a:p>
        </p:txBody>
      </p:sp>
      <p:sp>
        <p:nvSpPr>
          <p:cNvPr id="23" name="Shape 20"/>
          <p:cNvSpPr/>
          <p:nvPr/>
        </p:nvSpPr>
        <p:spPr>
          <a:xfrm>
            <a:off x="4389120" y="2697480"/>
            <a:ext cx="274320" cy="0"/>
          </a:xfrm>
          <a:prstGeom prst="line">
            <a:avLst/>
          </a:prstGeom>
          <a:noFill/>
          <a:ln w="19050">
            <a:solidFill>
              <a:srgbClr val="A78BFA"/>
            </a:solidFill>
            <a:prstDash val="solid"/>
            <a:tailEnd type="triangle"/>
          </a:ln>
        </p:spPr>
      </p:sp>
      <p:sp>
        <p:nvSpPr>
          <p:cNvPr id="24" name="Shape 21"/>
          <p:cNvSpPr/>
          <p:nvPr/>
        </p:nvSpPr>
        <p:spPr>
          <a:xfrm>
            <a:off x="4663440" y="2377440"/>
            <a:ext cx="1828800" cy="640080"/>
          </a:xfrm>
          <a:prstGeom prst="roundRect">
            <a:avLst>
              <a:gd name="adj" fmla="val 8571"/>
            </a:avLst>
          </a:prstGeom>
          <a:solidFill>
            <a:srgbClr val="131C2E"/>
          </a:solidFill>
          <a:ln w="19050">
            <a:solidFill>
              <a:srgbClr val="A78BFA"/>
            </a:solidFill>
            <a:prstDash val="solid"/>
          </a:ln>
        </p:spPr>
      </p:sp>
      <p:sp>
        <p:nvSpPr>
          <p:cNvPr id="25" name="Text 22"/>
          <p:cNvSpPr txBox="1"/>
          <p:nvPr/>
        </p:nvSpPr>
        <p:spPr>
          <a:xfrm>
            <a:off x="4663440" y="2377440"/>
            <a:ext cx="1828800" cy="64008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Link-down raises</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PortStatus event</a:t>
            </a:r>
            <a:endParaRPr lang="en-US" sz="1100" dirty="0"/>
          </a:p>
        </p:txBody>
      </p:sp>
      <p:sp>
        <p:nvSpPr>
          <p:cNvPr id="26" name="Shape 23"/>
          <p:cNvSpPr/>
          <p:nvPr/>
        </p:nvSpPr>
        <p:spPr>
          <a:xfrm>
            <a:off x="6492240" y="2697480"/>
            <a:ext cx="274320" cy="0"/>
          </a:xfrm>
          <a:prstGeom prst="line">
            <a:avLst/>
          </a:prstGeom>
          <a:noFill/>
          <a:ln w="19050">
            <a:solidFill>
              <a:srgbClr val="A78BFA"/>
            </a:solidFill>
            <a:prstDash val="solid"/>
            <a:tailEnd type="triangle"/>
          </a:ln>
        </p:spPr>
      </p:sp>
      <p:sp>
        <p:nvSpPr>
          <p:cNvPr id="27" name="Shape 24"/>
          <p:cNvSpPr/>
          <p:nvPr/>
        </p:nvSpPr>
        <p:spPr>
          <a:xfrm>
            <a:off x="6766560" y="2377440"/>
            <a:ext cx="1828800" cy="640080"/>
          </a:xfrm>
          <a:prstGeom prst="roundRect">
            <a:avLst>
              <a:gd name="adj" fmla="val 8571"/>
            </a:avLst>
          </a:prstGeom>
          <a:solidFill>
            <a:srgbClr val="131C2E"/>
          </a:solidFill>
          <a:ln w="19050">
            <a:solidFill>
              <a:srgbClr val="A78BFA"/>
            </a:solidFill>
            <a:prstDash val="solid"/>
          </a:ln>
        </p:spPr>
      </p:sp>
      <p:sp>
        <p:nvSpPr>
          <p:cNvPr id="28" name="Text 25"/>
          <p:cNvSpPr txBox="1"/>
          <p:nvPr/>
        </p:nvSpPr>
        <p:spPr>
          <a:xfrm>
            <a:off x="6766560" y="2377440"/>
            <a:ext cx="1828800" cy="640080"/>
          </a:xfrm>
          <a:prstGeom prst="rect">
            <a:avLst/>
          </a:prstGeom>
          <a:noFill/>
          <a:ln/>
        </p:spPr>
        <p:txBody>
          <a:bodyPr wrap="square" lIns="0" tIns="0" rIns="0" bIns="0" rtlCol="0" anchor="ctr"/>
          <a:lstStyle/>
          <a:p>
            <a:pPr marL="0" indent="0" algn="ctr">
              <a:buNone/>
            </a:pPr>
            <a:r>
              <a:rPr lang="en-US" sz="1100" b="1" dirty="0">
                <a:solidFill>
                  <a:srgbClr val="E5E7EB"/>
                </a:solidFill>
                <a:latin typeface="Calibri" pitchFamily="34" charset="0"/>
                <a:ea typeface="Calibri" pitchFamily="34" charset="-122"/>
                <a:cs typeface="Calibri" pitchFamily="34" charset="-120"/>
              </a:rPr>
              <a:t>Ryu recomputes and</a:t>
            </a:r>
            <a:endParaRPr lang="en-US" sz="1100" dirty="0"/>
          </a:p>
          <a:p>
            <a:pPr marL="0" indent="0" algn="ctr">
              <a:buNone/>
            </a:pPr>
            <a:r>
              <a:rPr lang="en-US" sz="1100" b="1" dirty="0">
                <a:solidFill>
                  <a:srgbClr val="E5E7EB"/>
                </a:solidFill>
                <a:latin typeface="Calibri" pitchFamily="34" charset="0"/>
                <a:ea typeface="Calibri" pitchFamily="34" charset="-122"/>
                <a:cs typeface="Calibri" pitchFamily="34" charset="-120"/>
              </a:rPr>
              <a:t>reinstalls flows</a:t>
            </a:r>
            <a:endParaRPr lang="en-US" sz="1100" dirty="0"/>
          </a:p>
        </p:txBody>
      </p:sp>
      <p:sp>
        <p:nvSpPr>
          <p:cNvPr id="29" name="Shape 26"/>
          <p:cNvSpPr/>
          <p:nvPr/>
        </p:nvSpPr>
        <p:spPr>
          <a:xfrm>
            <a:off x="457200" y="3291840"/>
            <a:ext cx="4023360" cy="1371600"/>
          </a:xfrm>
          <a:prstGeom prst="roundRect">
            <a:avLst>
              <a:gd name="adj" fmla="val 5333"/>
            </a:avLst>
          </a:prstGeom>
          <a:solidFill>
            <a:srgbClr val="131C2E"/>
          </a:solidFill>
          <a:ln w="12700">
            <a:solidFill>
              <a:srgbClr val="FBBF24"/>
            </a:solidFill>
            <a:prstDash val="solid"/>
          </a:ln>
        </p:spPr>
      </p:sp>
      <p:sp>
        <p:nvSpPr>
          <p:cNvPr id="30" name="Text 27"/>
          <p:cNvSpPr txBox="1"/>
          <p:nvPr/>
        </p:nvSpPr>
        <p:spPr>
          <a:xfrm>
            <a:off x="594360" y="3383280"/>
            <a:ext cx="3749040" cy="274320"/>
          </a:xfrm>
          <a:prstGeom prst="rect">
            <a:avLst/>
          </a:prstGeom>
          <a:noFill/>
          <a:ln/>
        </p:spPr>
        <p:txBody>
          <a:bodyPr wrap="square" lIns="0" tIns="0" rIns="0" bIns="0" rtlCol="0" anchor="t"/>
          <a:lstStyle/>
          <a:p>
            <a:pPr marL="0" indent="0">
              <a:buNone/>
            </a:pPr>
            <a:r>
              <a:rPr lang="en-US" sz="1400" b="1" dirty="0">
                <a:solidFill>
                  <a:srgbClr val="FBBF24"/>
                </a:solidFill>
                <a:latin typeface="Calibri" pitchFamily="34" charset="0"/>
                <a:ea typeface="Calibri" pitchFamily="34" charset="-122"/>
                <a:cs typeface="Calibri" pitchFamily="34" charset="-120"/>
              </a:rPr>
              <a:t>No direct controller–app link</a:t>
            </a:r>
            <a:endParaRPr lang="en-US" sz="1400" dirty="0"/>
          </a:p>
        </p:txBody>
      </p:sp>
      <p:sp>
        <p:nvSpPr>
          <p:cNvPr id="31" name="Text 28"/>
          <p:cNvSpPr txBox="1"/>
          <p:nvPr/>
        </p:nvSpPr>
        <p:spPr>
          <a:xfrm>
            <a:off x="594360" y="3703320"/>
            <a:ext cx="3749040" cy="8686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Controller never sees chunks or RESUME</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Interaction happens only via the network</a:t>
            </a:r>
            <a:endParaRPr lang="en-US" sz="1200" dirty="0"/>
          </a:p>
        </p:txBody>
      </p:sp>
      <p:sp>
        <p:nvSpPr>
          <p:cNvPr id="32" name="Shape 29"/>
          <p:cNvSpPr/>
          <p:nvPr/>
        </p:nvSpPr>
        <p:spPr>
          <a:xfrm>
            <a:off x="4663440" y="3291840"/>
            <a:ext cx="4023360" cy="1371600"/>
          </a:xfrm>
          <a:prstGeom prst="roundRect">
            <a:avLst>
              <a:gd name="adj" fmla="val 5333"/>
            </a:avLst>
          </a:prstGeom>
          <a:solidFill>
            <a:srgbClr val="131C2E"/>
          </a:solidFill>
          <a:ln w="12700">
            <a:solidFill>
              <a:srgbClr val="22D3EE"/>
            </a:solidFill>
            <a:prstDash val="solid"/>
          </a:ln>
        </p:spPr>
      </p:sp>
      <p:sp>
        <p:nvSpPr>
          <p:cNvPr id="33" name="Text 30"/>
          <p:cNvSpPr txBox="1"/>
          <p:nvPr/>
        </p:nvSpPr>
        <p:spPr>
          <a:xfrm>
            <a:off x="4800600" y="3383280"/>
            <a:ext cx="3749040" cy="274320"/>
          </a:xfrm>
          <a:prstGeom prst="rect">
            <a:avLst/>
          </a:prstGeom>
          <a:noFill/>
          <a:ln/>
        </p:spPr>
        <p:txBody>
          <a:bodyPr wrap="square" lIns="0" tIns="0" rIns="0" bIns="0" rtlCol="0" anchor="t"/>
          <a:lstStyle/>
          <a:p>
            <a:pPr marL="0" indent="0">
              <a:buNone/>
            </a:pPr>
            <a:r>
              <a:rPr lang="en-US" sz="1400" b="1" dirty="0">
                <a:solidFill>
                  <a:srgbClr val="22D3EE"/>
                </a:solidFill>
                <a:latin typeface="Calibri" pitchFamily="34" charset="0"/>
                <a:ea typeface="Calibri" pitchFamily="34" charset="-122"/>
                <a:cs typeface="Calibri" pitchFamily="34" charset="-120"/>
              </a:rPr>
              <a:t>Three recovery layers</a:t>
            </a:r>
            <a:endParaRPr lang="en-US" sz="1400" dirty="0"/>
          </a:p>
        </p:txBody>
      </p:sp>
      <p:sp>
        <p:nvSpPr>
          <p:cNvPr id="34" name="Text 31"/>
          <p:cNvSpPr txBox="1"/>
          <p:nvPr/>
        </p:nvSpPr>
        <p:spPr>
          <a:xfrm>
            <a:off x="4800600" y="3703320"/>
            <a:ext cx="3749040" cy="8686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Network: Ryu reroutes (flow rules)</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Transport: TCP retransmission</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Application: RESUME / failover</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02920"/>
          </a:xfrm>
          <a:prstGeom prst="rect">
            <a:avLst/>
          </a:prstGeom>
          <a:noFill/>
          <a:ln/>
        </p:spPr>
        <p:txBody>
          <a:bodyPr wrap="square" lIns="0" tIns="0" rIns="0" bIns="0" rtlCol="0" anchor="ctr"/>
          <a:lstStyle/>
          <a:p>
            <a:pPr marL="0" indent="0">
              <a:buNone/>
            </a:pPr>
            <a:r>
              <a:rPr lang="en-US" sz="2600" b="1" dirty="0">
                <a:solidFill>
                  <a:srgbClr val="E5E7EB"/>
                </a:solidFill>
                <a:latin typeface="Calibri" pitchFamily="34" charset="0"/>
                <a:ea typeface="Calibri" pitchFamily="34" charset="-122"/>
                <a:cs typeface="Calibri" pitchFamily="34" charset="-120"/>
              </a:rPr>
              <a:t>Challenging Scenario: Link Failure During Backup</a:t>
            </a:r>
            <a:endParaRPr lang="en-US" sz="2600" dirty="0"/>
          </a:p>
        </p:txBody>
      </p:sp>
      <p:sp>
        <p:nvSpPr>
          <p:cNvPr id="3" name="Text 1"/>
          <p:cNvSpPr txBox="1"/>
          <p:nvPr/>
        </p:nvSpPr>
        <p:spPr>
          <a:xfrm>
            <a:off x="457200" y="4800600"/>
            <a:ext cx="8229600" cy="228600"/>
          </a:xfrm>
          <a:prstGeom prst="rect">
            <a:avLst/>
          </a:prstGeom>
          <a:noFill/>
          <a:ln/>
        </p:spPr>
        <p:txBody>
          <a:bodyPr wrap="square" lIns="0" tIns="0" rIns="0" bIns="0" rtlCol="0" anchor="t"/>
          <a:lstStyle/>
          <a:p>
            <a:pPr marL="0" indent="0">
              <a:buNone/>
            </a:pPr>
            <a:endParaRPr lang="en-US" sz="1000" dirty="0"/>
          </a:p>
        </p:txBody>
      </p:sp>
      <p:sp>
        <p:nvSpPr>
          <p:cNvPr id="5" name="Shape 2"/>
          <p:cNvSpPr/>
          <p:nvPr/>
        </p:nvSpPr>
        <p:spPr>
          <a:xfrm>
            <a:off x="457200" y="914400"/>
            <a:ext cx="2651760" cy="1737360"/>
          </a:xfrm>
          <a:prstGeom prst="roundRect">
            <a:avLst>
              <a:gd name="adj" fmla="val 4211"/>
            </a:avLst>
          </a:prstGeom>
          <a:solidFill>
            <a:srgbClr val="131C2E"/>
          </a:solidFill>
          <a:ln w="12700">
            <a:solidFill>
              <a:srgbClr val="22D3EE"/>
            </a:solidFill>
            <a:prstDash val="solid"/>
          </a:ln>
        </p:spPr>
      </p:sp>
      <p:sp>
        <p:nvSpPr>
          <p:cNvPr id="6" name="Text 3"/>
          <p:cNvSpPr txBox="1"/>
          <p:nvPr/>
        </p:nvSpPr>
        <p:spPr>
          <a:xfrm>
            <a:off x="594360" y="1005840"/>
            <a:ext cx="2377440" cy="274320"/>
          </a:xfrm>
          <a:prstGeom prst="rect">
            <a:avLst/>
          </a:prstGeom>
          <a:noFill/>
          <a:ln/>
        </p:spPr>
        <p:txBody>
          <a:bodyPr wrap="square" lIns="0" tIns="0" rIns="0" bIns="0" rtlCol="0" anchor="t"/>
          <a:lstStyle/>
          <a:p>
            <a:pPr marL="0" indent="0">
              <a:buNone/>
            </a:pPr>
            <a:r>
              <a:rPr lang="en-US" sz="1400" b="1" dirty="0">
                <a:solidFill>
                  <a:srgbClr val="22D3EE"/>
                </a:solidFill>
                <a:latin typeface="Calibri" pitchFamily="34" charset="0"/>
                <a:ea typeface="Calibri" pitchFamily="34" charset="-122"/>
                <a:cs typeface="Calibri" pitchFamily="34" charset="-120"/>
              </a:rPr>
              <a:t>BEFORE</a:t>
            </a:r>
            <a:endParaRPr lang="en-US" sz="1400" dirty="0"/>
          </a:p>
        </p:txBody>
      </p:sp>
      <p:sp>
        <p:nvSpPr>
          <p:cNvPr id="7" name="Text 4"/>
          <p:cNvSpPr txBox="1"/>
          <p:nvPr/>
        </p:nvSpPr>
        <p:spPr>
          <a:xfrm>
            <a:off x="594360" y="1325880"/>
            <a:ext cx="2377440" cy="12344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1024 MB file, 1,31,072 × 8 KB chunks</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h1 to h3 over s1–s2</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Flows from Dijkstra</a:t>
            </a:r>
            <a:endParaRPr lang="en-US" sz="1200" dirty="0"/>
          </a:p>
        </p:txBody>
      </p:sp>
      <p:sp>
        <p:nvSpPr>
          <p:cNvPr id="8" name="Shape 5"/>
          <p:cNvSpPr/>
          <p:nvPr/>
        </p:nvSpPr>
        <p:spPr>
          <a:xfrm>
            <a:off x="3246120" y="914400"/>
            <a:ext cx="2651760" cy="1737360"/>
          </a:xfrm>
          <a:prstGeom prst="roundRect">
            <a:avLst>
              <a:gd name="adj" fmla="val 4211"/>
            </a:avLst>
          </a:prstGeom>
          <a:solidFill>
            <a:srgbClr val="131C2E"/>
          </a:solidFill>
          <a:ln w="12700">
            <a:solidFill>
              <a:srgbClr val="F87171"/>
            </a:solidFill>
            <a:prstDash val="solid"/>
          </a:ln>
        </p:spPr>
      </p:sp>
      <p:sp>
        <p:nvSpPr>
          <p:cNvPr id="9" name="Text 6"/>
          <p:cNvSpPr txBox="1"/>
          <p:nvPr/>
        </p:nvSpPr>
        <p:spPr>
          <a:xfrm>
            <a:off x="3383280" y="1005840"/>
            <a:ext cx="2377440" cy="274320"/>
          </a:xfrm>
          <a:prstGeom prst="rect">
            <a:avLst/>
          </a:prstGeom>
          <a:noFill/>
          <a:ln/>
        </p:spPr>
        <p:txBody>
          <a:bodyPr wrap="square" lIns="0" tIns="0" rIns="0" bIns="0" rtlCol="0" anchor="t"/>
          <a:lstStyle/>
          <a:p>
            <a:pPr marL="0" indent="0">
              <a:buNone/>
            </a:pPr>
            <a:r>
              <a:rPr lang="en-US" sz="1400" b="1" dirty="0">
                <a:solidFill>
                  <a:srgbClr val="F87171"/>
                </a:solidFill>
                <a:latin typeface="Calibri" pitchFamily="34" charset="0"/>
                <a:ea typeface="Calibri" pitchFamily="34" charset="-122"/>
                <a:cs typeface="Calibri" pitchFamily="34" charset="-120"/>
              </a:rPr>
              <a:t>DURING</a:t>
            </a:r>
            <a:endParaRPr lang="en-US" sz="1400" dirty="0"/>
          </a:p>
        </p:txBody>
      </p:sp>
      <p:sp>
        <p:nvSpPr>
          <p:cNvPr id="10" name="Text 7"/>
          <p:cNvSpPr txBox="1"/>
          <p:nvPr/>
        </p:nvSpPr>
        <p:spPr>
          <a:xfrm>
            <a:off x="3383280" y="1325880"/>
            <a:ext cx="2377440" cy="12344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Link s1–s2 down mid-transfer</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Mininet link down or dashboard button</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PortStatus, recompute, new flows</a:t>
            </a:r>
            <a:endParaRPr lang="en-US" sz="1200" dirty="0"/>
          </a:p>
        </p:txBody>
      </p:sp>
      <p:sp>
        <p:nvSpPr>
          <p:cNvPr id="11" name="Shape 8"/>
          <p:cNvSpPr/>
          <p:nvPr/>
        </p:nvSpPr>
        <p:spPr>
          <a:xfrm>
            <a:off x="6035040" y="914400"/>
            <a:ext cx="2651760" cy="1737360"/>
          </a:xfrm>
          <a:prstGeom prst="roundRect">
            <a:avLst>
              <a:gd name="adj" fmla="val 4211"/>
            </a:avLst>
          </a:prstGeom>
          <a:solidFill>
            <a:srgbClr val="131C2E"/>
          </a:solidFill>
          <a:ln w="12700">
            <a:solidFill>
              <a:srgbClr val="4ADE80"/>
            </a:solidFill>
            <a:prstDash val="solid"/>
          </a:ln>
        </p:spPr>
      </p:sp>
      <p:sp>
        <p:nvSpPr>
          <p:cNvPr id="12" name="Text 9"/>
          <p:cNvSpPr txBox="1"/>
          <p:nvPr/>
        </p:nvSpPr>
        <p:spPr>
          <a:xfrm>
            <a:off x="6172200" y="1005840"/>
            <a:ext cx="2377440" cy="274320"/>
          </a:xfrm>
          <a:prstGeom prst="rect">
            <a:avLst/>
          </a:prstGeom>
          <a:noFill/>
          <a:ln/>
        </p:spPr>
        <p:txBody>
          <a:bodyPr wrap="square" lIns="0" tIns="0" rIns="0" bIns="0" rtlCol="0" anchor="t"/>
          <a:lstStyle/>
          <a:p>
            <a:pPr marL="0" indent="0">
              <a:buNone/>
            </a:pPr>
            <a:r>
              <a:rPr lang="en-US" sz="1400" b="1" dirty="0">
                <a:solidFill>
                  <a:srgbClr val="4ADE80"/>
                </a:solidFill>
                <a:latin typeface="Calibri" pitchFamily="34" charset="0"/>
                <a:ea typeface="Calibri" pitchFamily="34" charset="-122"/>
                <a:cs typeface="Calibri" pitchFamily="34" charset="-120"/>
              </a:rPr>
              <a:t>AFTER</a:t>
            </a:r>
            <a:endParaRPr lang="en-US" sz="1400" dirty="0"/>
          </a:p>
        </p:txBody>
      </p:sp>
      <p:sp>
        <p:nvSpPr>
          <p:cNvPr id="13" name="Text 10"/>
          <p:cNvSpPr txBox="1"/>
          <p:nvPr/>
        </p:nvSpPr>
        <p:spPr>
          <a:xfrm>
            <a:off x="6172200" y="1325880"/>
            <a:ext cx="2377440" cy="12344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Reported: traffic flowing.</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Throughput ~14000 vs ~12500 KB/s</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All chunks received</a:t>
            </a:r>
            <a:endParaRPr lang="en-US" sz="1200" dirty="0"/>
          </a:p>
        </p:txBody>
      </p:sp>
      <p:sp>
        <p:nvSpPr>
          <p:cNvPr id="14" name="Shape 11"/>
          <p:cNvSpPr/>
          <p:nvPr/>
        </p:nvSpPr>
        <p:spPr>
          <a:xfrm>
            <a:off x="457200" y="2926080"/>
            <a:ext cx="2011680" cy="914400"/>
          </a:xfrm>
          <a:prstGeom prst="roundRect">
            <a:avLst>
              <a:gd name="adj" fmla="val 6000"/>
            </a:avLst>
          </a:prstGeom>
          <a:solidFill>
            <a:srgbClr val="131C2E"/>
          </a:solidFill>
          <a:ln w="19050">
            <a:solidFill>
              <a:srgbClr val="4ADE80"/>
            </a:solidFill>
            <a:prstDash val="solid"/>
          </a:ln>
        </p:spPr>
      </p:sp>
      <p:sp>
        <p:nvSpPr>
          <p:cNvPr id="15" name="Text 12"/>
          <p:cNvSpPr txBox="1"/>
          <p:nvPr/>
        </p:nvSpPr>
        <p:spPr>
          <a:xfrm>
            <a:off x="457200" y="2926080"/>
            <a:ext cx="2011680" cy="914400"/>
          </a:xfrm>
          <a:prstGeom prst="rect">
            <a:avLst/>
          </a:prstGeom>
          <a:noFill/>
          <a:ln/>
        </p:spPr>
        <p:txBody>
          <a:bodyPr wrap="square" lIns="0" tIns="0" rIns="0" bIns="0" rtlCol="0" anchor="ctr"/>
          <a:lstStyle/>
          <a:p>
            <a:pPr marL="0" indent="0" algn="ctr">
              <a:buNone/>
            </a:pPr>
            <a:endParaRPr lang="en-US" sz="1100" dirty="0"/>
          </a:p>
        </p:txBody>
      </p:sp>
      <p:sp>
        <p:nvSpPr>
          <p:cNvPr id="16" name="Text 13"/>
          <p:cNvSpPr txBox="1"/>
          <p:nvPr/>
        </p:nvSpPr>
        <p:spPr>
          <a:xfrm>
            <a:off x="548640" y="2990088"/>
            <a:ext cx="1828800" cy="365760"/>
          </a:xfrm>
          <a:prstGeom prst="rect">
            <a:avLst/>
          </a:prstGeom>
          <a:noFill/>
          <a:ln/>
        </p:spPr>
        <p:txBody>
          <a:bodyPr wrap="square" lIns="0" tIns="0" rIns="0" bIns="0" rtlCol="0" anchor="t"/>
          <a:lstStyle/>
          <a:p>
            <a:pPr marL="0" indent="0" algn="ctr">
              <a:buNone/>
            </a:pPr>
            <a:r>
              <a:rPr lang="en-US" sz="1200" b="1" dirty="0">
                <a:solidFill>
                  <a:srgbClr val="E5E7EB"/>
                </a:solidFill>
                <a:latin typeface="Calibri" pitchFamily="34" charset="0"/>
                <a:ea typeface="Calibri" pitchFamily="34" charset="-122"/>
                <a:cs typeface="Calibri" pitchFamily="34" charset="-120"/>
              </a:rPr>
              <a:t>Network connectivity restored</a:t>
            </a:r>
            <a:endParaRPr lang="en-US" sz="1200" dirty="0"/>
          </a:p>
        </p:txBody>
      </p:sp>
      <p:sp>
        <p:nvSpPr>
          <p:cNvPr id="17" name="Text 14"/>
          <p:cNvSpPr txBox="1"/>
          <p:nvPr/>
        </p:nvSpPr>
        <p:spPr>
          <a:xfrm>
            <a:off x="548640" y="3401568"/>
            <a:ext cx="1828800" cy="411480"/>
          </a:xfrm>
          <a:prstGeom prst="rect">
            <a:avLst/>
          </a:prstGeom>
          <a:noFill/>
          <a:ln/>
        </p:spPr>
        <p:txBody>
          <a:bodyPr wrap="square" lIns="0" tIns="0" rIns="0" bIns="0" rtlCol="0" anchor="t"/>
          <a:lstStyle/>
          <a:p>
            <a:pPr marL="0" indent="0" algn="ctr">
              <a:buNone/>
            </a:pPr>
            <a:r>
              <a:rPr lang="en-US" sz="1100" dirty="0">
                <a:solidFill>
                  <a:srgbClr val="4ADE80"/>
                </a:solidFill>
                <a:latin typeface="Calibri" pitchFamily="34" charset="0"/>
                <a:ea typeface="Calibri" pitchFamily="34" charset="-122"/>
                <a:cs typeface="Calibri" pitchFamily="34" charset="-120"/>
              </a:rPr>
              <a:t>REPORTED: 1.3 s</a:t>
            </a:r>
            <a:endParaRPr lang="en-US" sz="1100" dirty="0"/>
          </a:p>
        </p:txBody>
      </p:sp>
      <p:sp>
        <p:nvSpPr>
          <p:cNvPr id="18" name="Shape 15"/>
          <p:cNvSpPr/>
          <p:nvPr/>
        </p:nvSpPr>
        <p:spPr>
          <a:xfrm>
            <a:off x="2560320" y="2926080"/>
            <a:ext cx="2011680" cy="914400"/>
          </a:xfrm>
          <a:prstGeom prst="roundRect">
            <a:avLst>
              <a:gd name="adj" fmla="val 6000"/>
            </a:avLst>
          </a:prstGeom>
          <a:solidFill>
            <a:srgbClr val="131C2E"/>
          </a:solidFill>
          <a:ln w="19050">
            <a:solidFill>
              <a:srgbClr val="FBBF24"/>
            </a:solidFill>
            <a:prstDash val="solid"/>
          </a:ln>
        </p:spPr>
      </p:sp>
      <p:sp>
        <p:nvSpPr>
          <p:cNvPr id="19" name="Text 16"/>
          <p:cNvSpPr txBox="1"/>
          <p:nvPr/>
        </p:nvSpPr>
        <p:spPr>
          <a:xfrm>
            <a:off x="2560320" y="2926080"/>
            <a:ext cx="2011680" cy="914400"/>
          </a:xfrm>
          <a:prstGeom prst="rect">
            <a:avLst/>
          </a:prstGeom>
          <a:noFill/>
          <a:ln/>
        </p:spPr>
        <p:txBody>
          <a:bodyPr wrap="square" lIns="0" tIns="0" rIns="0" bIns="0" rtlCol="0" anchor="ctr"/>
          <a:lstStyle/>
          <a:p>
            <a:pPr marL="0" indent="0" algn="ctr">
              <a:buNone/>
            </a:pPr>
            <a:endParaRPr lang="en-US" sz="1100" dirty="0"/>
          </a:p>
        </p:txBody>
      </p:sp>
      <p:sp>
        <p:nvSpPr>
          <p:cNvPr id="20" name="Text 17"/>
          <p:cNvSpPr txBox="1"/>
          <p:nvPr/>
        </p:nvSpPr>
        <p:spPr>
          <a:xfrm>
            <a:off x="2651760" y="2990088"/>
            <a:ext cx="1828800" cy="365760"/>
          </a:xfrm>
          <a:prstGeom prst="rect">
            <a:avLst/>
          </a:prstGeom>
          <a:noFill/>
          <a:ln/>
        </p:spPr>
        <p:txBody>
          <a:bodyPr wrap="square" lIns="0" tIns="0" rIns="0" bIns="0" rtlCol="0" anchor="t"/>
          <a:lstStyle/>
          <a:p>
            <a:pPr marL="0" indent="0" algn="ctr">
              <a:buNone/>
            </a:pPr>
            <a:r>
              <a:rPr lang="en-US" sz="1200" b="1" dirty="0">
                <a:solidFill>
                  <a:srgbClr val="E5E7EB"/>
                </a:solidFill>
                <a:latin typeface="Calibri" pitchFamily="34" charset="0"/>
                <a:ea typeface="Calibri" pitchFamily="34" charset="-122"/>
                <a:cs typeface="Calibri" pitchFamily="34" charset="-120"/>
              </a:rPr>
              <a:t>TCP connection preserved</a:t>
            </a:r>
            <a:endParaRPr lang="en-US" sz="1200" dirty="0"/>
          </a:p>
        </p:txBody>
      </p:sp>
      <p:sp>
        <p:nvSpPr>
          <p:cNvPr id="21" name="Text 18"/>
          <p:cNvSpPr txBox="1"/>
          <p:nvPr/>
        </p:nvSpPr>
        <p:spPr>
          <a:xfrm>
            <a:off x="2651760" y="3401568"/>
            <a:ext cx="1828800" cy="411480"/>
          </a:xfrm>
          <a:prstGeom prst="rect">
            <a:avLst/>
          </a:prstGeom>
          <a:noFill/>
          <a:ln/>
        </p:spPr>
        <p:txBody>
          <a:bodyPr wrap="square" lIns="0" tIns="0" rIns="0" bIns="0" rtlCol="0" anchor="t"/>
          <a:lstStyle/>
          <a:p>
            <a:pPr marL="0" indent="0" algn="ctr">
              <a:buNone/>
            </a:pPr>
            <a:r>
              <a:rPr lang="en-US" sz="1100" dirty="0">
                <a:solidFill>
                  <a:srgbClr val="FBBF24"/>
                </a:solidFill>
                <a:latin typeface="Calibri" pitchFamily="34" charset="0"/>
                <a:ea typeface="Calibri" pitchFamily="34" charset="-122"/>
                <a:cs typeface="Calibri" pitchFamily="34" charset="-120"/>
              </a:rPr>
              <a:t>UNVERIFIED: docs credit TCP retransmission</a:t>
            </a:r>
            <a:endParaRPr lang="en-US" sz="1100" dirty="0"/>
          </a:p>
        </p:txBody>
      </p:sp>
      <p:sp>
        <p:nvSpPr>
          <p:cNvPr id="22" name="Shape 19"/>
          <p:cNvSpPr/>
          <p:nvPr/>
        </p:nvSpPr>
        <p:spPr>
          <a:xfrm>
            <a:off x="4663440" y="2926080"/>
            <a:ext cx="2011680" cy="914400"/>
          </a:xfrm>
          <a:prstGeom prst="roundRect">
            <a:avLst>
              <a:gd name="adj" fmla="val 6000"/>
            </a:avLst>
          </a:prstGeom>
          <a:solidFill>
            <a:srgbClr val="131C2E"/>
          </a:solidFill>
          <a:ln w="19050">
            <a:solidFill>
              <a:srgbClr val="FBBF24"/>
            </a:solidFill>
            <a:prstDash val="solid"/>
          </a:ln>
        </p:spPr>
      </p:sp>
      <p:sp>
        <p:nvSpPr>
          <p:cNvPr id="23" name="Text 20"/>
          <p:cNvSpPr txBox="1"/>
          <p:nvPr/>
        </p:nvSpPr>
        <p:spPr>
          <a:xfrm>
            <a:off x="4663440" y="2926080"/>
            <a:ext cx="2011680" cy="914400"/>
          </a:xfrm>
          <a:prstGeom prst="rect">
            <a:avLst/>
          </a:prstGeom>
          <a:noFill/>
          <a:ln/>
        </p:spPr>
        <p:txBody>
          <a:bodyPr wrap="square" lIns="0" tIns="0" rIns="0" bIns="0" rtlCol="0" anchor="ctr"/>
          <a:lstStyle/>
          <a:p>
            <a:pPr marL="0" indent="0" algn="ctr">
              <a:buNone/>
            </a:pPr>
            <a:endParaRPr lang="en-US" sz="1100" dirty="0"/>
          </a:p>
        </p:txBody>
      </p:sp>
      <p:sp>
        <p:nvSpPr>
          <p:cNvPr id="24" name="Text 21"/>
          <p:cNvSpPr txBox="1"/>
          <p:nvPr/>
        </p:nvSpPr>
        <p:spPr>
          <a:xfrm>
            <a:off x="4754880" y="2990088"/>
            <a:ext cx="1828800" cy="365760"/>
          </a:xfrm>
          <a:prstGeom prst="rect">
            <a:avLst/>
          </a:prstGeom>
          <a:noFill/>
          <a:ln/>
        </p:spPr>
        <p:txBody>
          <a:bodyPr wrap="square" lIns="0" tIns="0" rIns="0" bIns="0" rtlCol="0" anchor="t"/>
          <a:lstStyle/>
          <a:p>
            <a:pPr marL="0" indent="0" algn="ctr">
              <a:buNone/>
            </a:pPr>
            <a:r>
              <a:rPr lang="en-US" sz="1200" b="1" dirty="0">
                <a:solidFill>
                  <a:srgbClr val="E5E7EB"/>
                </a:solidFill>
                <a:latin typeface="Calibri" pitchFamily="34" charset="0"/>
                <a:ea typeface="Calibri" pitchFamily="34" charset="-122"/>
                <a:cs typeface="Calibri" pitchFamily="34" charset="-120"/>
              </a:rPr>
              <a:t>App-level RESUME used</a:t>
            </a:r>
            <a:endParaRPr lang="en-US" sz="1200" dirty="0"/>
          </a:p>
        </p:txBody>
      </p:sp>
      <p:sp>
        <p:nvSpPr>
          <p:cNvPr id="25" name="Text 22"/>
          <p:cNvSpPr txBox="1"/>
          <p:nvPr/>
        </p:nvSpPr>
        <p:spPr>
          <a:xfrm>
            <a:off x="4754880" y="3401568"/>
            <a:ext cx="1828800" cy="411480"/>
          </a:xfrm>
          <a:prstGeom prst="rect">
            <a:avLst/>
          </a:prstGeom>
          <a:noFill/>
          <a:ln/>
        </p:spPr>
        <p:txBody>
          <a:bodyPr wrap="square" lIns="0" tIns="0" rIns="0" bIns="0" rtlCol="0" anchor="t"/>
          <a:lstStyle/>
          <a:p>
            <a:pPr marL="0" indent="0" algn="ctr">
              <a:buNone/>
            </a:pPr>
            <a:r>
              <a:rPr lang="en-US" sz="1100" dirty="0">
                <a:solidFill>
                  <a:srgbClr val="FBBF24"/>
                </a:solidFill>
                <a:latin typeface="Calibri" pitchFamily="34" charset="0"/>
                <a:ea typeface="Calibri" pitchFamily="34" charset="-122"/>
                <a:cs typeface="Calibri" pitchFamily="34" charset="-120"/>
              </a:rPr>
              <a:t>UNVERIFIED: check client log</a:t>
            </a:r>
            <a:endParaRPr lang="en-US" sz="1100" dirty="0"/>
          </a:p>
        </p:txBody>
      </p:sp>
      <p:sp>
        <p:nvSpPr>
          <p:cNvPr id="26" name="Shape 23"/>
          <p:cNvSpPr/>
          <p:nvPr/>
        </p:nvSpPr>
        <p:spPr>
          <a:xfrm>
            <a:off x="6766560" y="2926080"/>
            <a:ext cx="2011680" cy="914400"/>
          </a:xfrm>
          <a:prstGeom prst="roundRect">
            <a:avLst>
              <a:gd name="adj" fmla="val 6000"/>
            </a:avLst>
          </a:prstGeom>
          <a:solidFill>
            <a:srgbClr val="131C2E"/>
          </a:solidFill>
          <a:ln w="19050">
            <a:solidFill>
              <a:srgbClr val="4ADE80"/>
            </a:solidFill>
            <a:prstDash val="solid"/>
          </a:ln>
        </p:spPr>
      </p:sp>
      <p:sp>
        <p:nvSpPr>
          <p:cNvPr id="27" name="Text 24"/>
          <p:cNvSpPr txBox="1"/>
          <p:nvPr/>
        </p:nvSpPr>
        <p:spPr>
          <a:xfrm>
            <a:off x="6766560" y="2926080"/>
            <a:ext cx="2011680" cy="914400"/>
          </a:xfrm>
          <a:prstGeom prst="rect">
            <a:avLst/>
          </a:prstGeom>
          <a:noFill/>
          <a:ln/>
        </p:spPr>
        <p:txBody>
          <a:bodyPr wrap="square" lIns="0" tIns="0" rIns="0" bIns="0" rtlCol="0" anchor="ctr"/>
          <a:lstStyle/>
          <a:p>
            <a:pPr marL="0" indent="0" algn="ctr">
              <a:buNone/>
            </a:pPr>
            <a:endParaRPr lang="en-US" sz="1100" dirty="0"/>
          </a:p>
        </p:txBody>
      </p:sp>
      <p:sp>
        <p:nvSpPr>
          <p:cNvPr id="28" name="Text 25"/>
          <p:cNvSpPr txBox="1"/>
          <p:nvPr/>
        </p:nvSpPr>
        <p:spPr>
          <a:xfrm>
            <a:off x="6858000" y="2990088"/>
            <a:ext cx="1828800" cy="365760"/>
          </a:xfrm>
          <a:prstGeom prst="rect">
            <a:avLst/>
          </a:prstGeom>
          <a:noFill/>
          <a:ln/>
        </p:spPr>
        <p:txBody>
          <a:bodyPr wrap="square" lIns="0" tIns="0" rIns="0" bIns="0" rtlCol="0" anchor="t"/>
          <a:lstStyle/>
          <a:p>
            <a:pPr marL="0" indent="0" algn="ctr">
              <a:buNone/>
            </a:pPr>
            <a:r>
              <a:rPr lang="en-US" sz="1200" b="1" dirty="0">
                <a:solidFill>
                  <a:srgbClr val="E5E7EB"/>
                </a:solidFill>
                <a:latin typeface="Calibri" pitchFamily="34" charset="0"/>
                <a:ea typeface="Calibri" pitchFamily="34" charset="-122"/>
                <a:cs typeface="Calibri" pitchFamily="34" charset="-120"/>
              </a:rPr>
              <a:t>File integrity verified</a:t>
            </a:r>
            <a:endParaRPr lang="en-US" sz="1200" dirty="0"/>
          </a:p>
        </p:txBody>
      </p:sp>
      <p:sp>
        <p:nvSpPr>
          <p:cNvPr id="29" name="Text 26"/>
          <p:cNvSpPr txBox="1"/>
          <p:nvPr/>
        </p:nvSpPr>
        <p:spPr>
          <a:xfrm>
            <a:off x="6858000" y="3401568"/>
            <a:ext cx="1828800" cy="411480"/>
          </a:xfrm>
          <a:prstGeom prst="rect">
            <a:avLst/>
          </a:prstGeom>
          <a:noFill/>
          <a:ln/>
        </p:spPr>
        <p:txBody>
          <a:bodyPr wrap="square" lIns="0" tIns="0" rIns="0" bIns="0" rtlCol="0" anchor="t"/>
          <a:lstStyle/>
          <a:p>
            <a:pPr marL="0" indent="0" algn="ctr">
              <a:buNone/>
            </a:pPr>
            <a:r>
              <a:rPr lang="en-US" sz="1100" dirty="0">
                <a:solidFill>
                  <a:srgbClr val="4ADE80"/>
                </a:solidFill>
                <a:latin typeface="Calibri" pitchFamily="34" charset="0"/>
                <a:ea typeface="Calibri" pitchFamily="34" charset="-122"/>
                <a:cs typeface="Calibri" pitchFamily="34" charset="-120"/>
              </a:rPr>
              <a:t>REPORTED 128/128; run sha256sum</a:t>
            </a:r>
            <a:endParaRPr lang="en-US" sz="1100" dirty="0"/>
          </a:p>
        </p:txBody>
      </p:sp>
      <p:sp>
        <p:nvSpPr>
          <p:cNvPr id="30" name="Text 27"/>
          <p:cNvSpPr txBox="1"/>
          <p:nvPr/>
        </p:nvSpPr>
        <p:spPr>
          <a:xfrm>
            <a:off x="457200" y="4114800"/>
            <a:ext cx="8229600" cy="274320"/>
          </a:xfrm>
          <a:prstGeom prst="rect">
            <a:avLst/>
          </a:prstGeom>
          <a:noFill/>
          <a:ln/>
        </p:spPr>
        <p:txBody>
          <a:bodyPr wrap="square" lIns="0" tIns="0" rIns="0" bIns="0" rtlCol="0" anchor="t"/>
          <a:lstStyle/>
          <a:p>
            <a:pPr marL="0" indent="0">
              <a:buNone/>
            </a:pPr>
            <a:r>
              <a:rPr lang="en-US" sz="1300" i="1" dirty="0">
                <a:solidFill>
                  <a:srgbClr val="94A3B8"/>
                </a:solidFill>
                <a:latin typeface="Calibri" pitchFamily="34" charset="0"/>
                <a:ea typeface="Calibri" pitchFamily="34" charset="-122"/>
                <a:cs typeface="Calibri" pitchFamily="34" charset="-120"/>
              </a:rPr>
              <a:t>These four outcomes are separate achievements; do not treat them as one.</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a:extLst>
            <a:ext uri="{FF2B5EF4-FFF2-40B4-BE49-F238E27FC236}">
              <a16:creationId xmlns:a16="http://schemas.microsoft.com/office/drawing/2014/main" id="{5C683894-FD29-E17B-DF0B-A91F6E0CC094}"/>
            </a:ext>
          </a:extLst>
        </p:cNvPr>
        <p:cNvGrpSpPr/>
        <p:nvPr/>
      </p:nvGrpSpPr>
      <p:grpSpPr>
        <a:xfrm>
          <a:off x="0" y="0"/>
          <a:ext cx="0" cy="0"/>
          <a:chOff x="0" y="0"/>
          <a:chExt cx="0" cy="0"/>
        </a:xfrm>
      </p:grpSpPr>
      <p:pic>
        <p:nvPicPr>
          <p:cNvPr id="31" name="Picture 30">
            <a:extLst>
              <a:ext uri="{FF2B5EF4-FFF2-40B4-BE49-F238E27FC236}">
                <a16:creationId xmlns:a16="http://schemas.microsoft.com/office/drawing/2014/main" id="{BE2A4663-FEC0-27A4-2067-8B2EDC98D76F}"/>
              </a:ext>
            </a:extLst>
          </p:cNvPr>
          <p:cNvPicPr>
            <a:picLocks noChangeAspect="1"/>
          </p:cNvPicPr>
          <p:nvPr/>
        </p:nvPicPr>
        <p:blipFill>
          <a:blip r:embed="rId3"/>
          <a:stretch>
            <a:fillRect/>
          </a:stretch>
        </p:blipFill>
        <p:spPr>
          <a:xfrm>
            <a:off x="657475" y="1162593"/>
            <a:ext cx="7791710" cy="3141617"/>
          </a:xfrm>
          <a:prstGeom prst="rect">
            <a:avLst/>
          </a:prstGeom>
        </p:spPr>
      </p:pic>
    </p:spTree>
    <p:extLst>
      <p:ext uri="{BB962C8B-B14F-4D97-AF65-F5344CB8AC3E}">
        <p14:creationId xmlns:p14="http://schemas.microsoft.com/office/powerpoint/2010/main" val="438880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02920"/>
          </a:xfrm>
          <a:prstGeom prst="rect">
            <a:avLst/>
          </a:prstGeom>
          <a:noFill/>
          <a:ln/>
        </p:spPr>
        <p:txBody>
          <a:bodyPr wrap="square" lIns="0" tIns="0" rIns="0" bIns="0" rtlCol="0" anchor="ctr"/>
          <a:lstStyle/>
          <a:p>
            <a:pPr marL="0" indent="0">
              <a:buNone/>
            </a:pPr>
            <a:r>
              <a:rPr lang="en-US" sz="2600" b="1" dirty="0">
                <a:solidFill>
                  <a:srgbClr val="E5E7EB"/>
                </a:solidFill>
                <a:latin typeface="Calibri" pitchFamily="34" charset="0"/>
                <a:ea typeface="Calibri" pitchFamily="34" charset="-122"/>
                <a:cs typeface="Calibri" pitchFamily="34" charset="-120"/>
              </a:rPr>
              <a:t>Performance Evaluation and Baseline Comparison</a:t>
            </a:r>
            <a:endParaRPr lang="en-US" sz="2600" dirty="0"/>
          </a:p>
        </p:txBody>
      </p:sp>
      <p:sp>
        <p:nvSpPr>
          <p:cNvPr id="3" name="Text 1"/>
          <p:cNvSpPr txBox="1"/>
          <p:nvPr/>
        </p:nvSpPr>
        <p:spPr>
          <a:xfrm>
            <a:off x="457200" y="4800600"/>
            <a:ext cx="8229600" cy="228600"/>
          </a:xfrm>
          <a:prstGeom prst="rect">
            <a:avLst/>
          </a:prstGeom>
          <a:noFill/>
          <a:ln/>
        </p:spPr>
        <p:txBody>
          <a:bodyPr wrap="square" lIns="0" tIns="0" rIns="0" bIns="0" rtlCol="0" anchor="t"/>
          <a:lstStyle/>
          <a:p>
            <a:pPr marL="0" indent="0">
              <a:buNone/>
            </a:pPr>
            <a:endParaRPr lang="en-US" sz="1000" dirty="0"/>
          </a:p>
        </p:txBody>
      </p:sp>
      <p:graphicFrame>
        <p:nvGraphicFramePr>
          <p:cNvPr id="5" name="Chart 0"/>
          <p:cNvGraphicFramePr/>
          <p:nvPr/>
        </p:nvGraphicFramePr>
        <p:xfrm>
          <a:off x="365760" y="914400"/>
          <a:ext cx="4480560" cy="2926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0" y="914400"/>
          <a:ext cx="3657600" cy="1092200"/>
        </p:xfrm>
        <a:graphic>
          <a:graphicData uri="http://schemas.openxmlformats.org/drawingml/2006/table">
            <a:tbl>
              <a:tblPr/>
              <a:tblGrid>
                <a:gridCol w="26517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tblGrid>
              <a:tr h="0">
                <a:tc>
                  <a:txBody>
                    <a:bodyPr/>
                    <a:lstStyle/>
                    <a:p>
                      <a:pPr marL="0" indent="0">
                        <a:buNone/>
                      </a:pPr>
                      <a:r>
                        <a:rPr lang="en-US" sz="1100" b="1" dirty="0">
                          <a:solidFill>
                            <a:srgbClr val="22D3EE"/>
                          </a:solidFill>
                          <a:latin typeface="Calibri" pitchFamily="34" charset="0"/>
                          <a:ea typeface="Calibri" pitchFamily="34" charset="-122"/>
                          <a:cs typeface="Calibri" pitchFamily="34" charset="-120"/>
                        </a:rPr>
                        <a:t>Recovery stage</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B2740"/>
                    </a:solidFill>
                  </a:tcPr>
                </a:tc>
                <a:tc>
                  <a:txBody>
                    <a:bodyPr/>
                    <a:lstStyle/>
                    <a:p>
                      <a:pPr marL="0" indent="0">
                        <a:buNone/>
                      </a:pPr>
                      <a:r>
                        <a:rPr lang="en-US" sz="1100" b="1" dirty="0">
                          <a:solidFill>
                            <a:srgbClr val="22D3EE"/>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B2740"/>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Link down to detected</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0.3 s</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Detected to flows recomputed</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0.2 s</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Recomputed to traffic flowing</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0.8 s</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22D3EE"/>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b="1" dirty="0">
                          <a:solidFill>
                            <a:srgbClr val="22D3EE"/>
                          </a:solidFill>
                          <a:latin typeface="Calibri" pitchFamily="34" charset="0"/>
                          <a:ea typeface="Calibri" pitchFamily="34" charset="-122"/>
                          <a:cs typeface="Calibri" pitchFamily="34" charset="-120"/>
                        </a:rPr>
                        <a:t>1.3 s</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extLst>
                  <a:ext uri="{0D108BD9-81ED-4DB2-BD59-A6C34878D82A}">
                    <a16:rowId xmlns:a16="http://schemas.microsoft.com/office/drawing/2014/main" val="10004"/>
                  </a:ext>
                </a:extLst>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029200" y="2514600"/>
          <a:ext cx="3657600" cy="87376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22D3EE"/>
                          </a:solidFill>
                          <a:latin typeface="Calibri" pitchFamily="34" charset="0"/>
                          <a:ea typeface="Calibri" pitchFamily="34" charset="-122"/>
                          <a:cs typeface="Calibri" pitchFamily="34" charset="-120"/>
                        </a:rPr>
                        <a:t>Dynamic vs static</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B2740"/>
                    </a:solidFill>
                  </a:tcPr>
                </a:tc>
                <a:tc>
                  <a:txBody>
                    <a:bodyPr/>
                    <a:lstStyle/>
                    <a:p>
                      <a:pPr marL="0" indent="0">
                        <a:buNone/>
                      </a:pPr>
                      <a:r>
                        <a:rPr lang="en-US" sz="1100" b="1" dirty="0">
                          <a:solidFill>
                            <a:srgbClr val="22D3EE"/>
                          </a:solidFill>
                          <a:latin typeface="Calibri" pitchFamily="34" charset="0"/>
                          <a:ea typeface="Calibri" pitchFamily="34" charset="-122"/>
                          <a:cs typeface="Calibri" pitchFamily="34" charset="-120"/>
                        </a:rPr>
                        <a:t>Dynamic</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B2740"/>
                    </a:solidFill>
                  </a:tcPr>
                </a:tc>
                <a:tc>
                  <a:txBody>
                    <a:bodyPr/>
                    <a:lstStyle/>
                    <a:p>
                      <a:pPr marL="0" indent="0">
                        <a:buNone/>
                      </a:pPr>
                      <a:r>
                        <a:rPr lang="en-US" sz="1100" b="1" dirty="0">
                          <a:solidFill>
                            <a:srgbClr val="22D3EE"/>
                          </a:solidFill>
                          <a:latin typeface="Calibri" pitchFamily="34" charset="0"/>
                          <a:ea typeface="Calibri" pitchFamily="34" charset="-122"/>
                          <a:cs typeface="Calibri" pitchFamily="34" charset="-120"/>
                        </a:rPr>
                        <a:t>Static</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B2740"/>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Normal (KB/s)</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842.7</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850.3</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After link failure</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1.3 s recovery</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Fails (reported)</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Chunk loss</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100% after failure</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bl>
          </a:graphicData>
        </a:graphic>
      </p:graphicFrame>
      <p:sp>
        <p:nvSpPr>
          <p:cNvPr id="8" name="Text 2"/>
          <p:cNvSpPr txBox="1"/>
          <p:nvPr/>
        </p:nvSpPr>
        <p:spPr>
          <a:xfrm>
            <a:off x="457200" y="4023360"/>
            <a:ext cx="8229600" cy="640080"/>
          </a:xfrm>
          <a:prstGeom prst="rect">
            <a:avLst/>
          </a:prstGeom>
          <a:noFill/>
          <a:ln/>
        </p:spPr>
        <p:txBody>
          <a:bodyPr wrap="square" lIns="0" tIns="0" rIns="0" bIns="0" rtlCol="0" anchor="t"/>
          <a:lstStyle/>
          <a:p>
            <a:pPr marL="0" indent="0">
              <a:buNone/>
            </a:pPr>
            <a:r>
              <a:rPr lang="en-US" sz="1200" dirty="0">
                <a:solidFill>
                  <a:srgbClr val="FBBF24"/>
                </a:solidFill>
                <a:latin typeface="Calibri" pitchFamily="34" charset="0"/>
                <a:ea typeface="Calibri" pitchFamily="34" charset="-122"/>
                <a:cs typeface="Calibri" pitchFamily="34" charset="-120"/>
              </a:rPr>
              <a:t>Setup: 4-switch mesh, Ryu + Dijkstra, 128 × 8 KB chunks. Not yet measured: larger files, packet-loss %, a throughput run for the static baseline. Static outcome is binary, so a fair rate comparison is not possible.</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02920"/>
          </a:xfrm>
          <a:prstGeom prst="rect">
            <a:avLst/>
          </a:prstGeom>
          <a:noFill/>
          <a:ln/>
        </p:spPr>
        <p:txBody>
          <a:bodyPr wrap="square" lIns="0" tIns="0" rIns="0" bIns="0" rtlCol="0" anchor="ctr"/>
          <a:lstStyle/>
          <a:p>
            <a:pPr marL="0" indent="0">
              <a:buNone/>
            </a:pPr>
            <a:r>
              <a:rPr lang="en-US" sz="2600" b="1" dirty="0">
                <a:solidFill>
                  <a:srgbClr val="E5E7EB"/>
                </a:solidFill>
                <a:latin typeface="Calibri" pitchFamily="34" charset="0"/>
                <a:ea typeface="Calibri" pitchFamily="34" charset="-122"/>
                <a:cs typeface="Calibri" pitchFamily="34" charset="-120"/>
              </a:rPr>
              <a:t>Testing, Results and Demonstration</a:t>
            </a:r>
            <a:endParaRPr lang="en-US" sz="2600" dirty="0"/>
          </a:p>
        </p:txBody>
      </p:sp>
      <p:sp>
        <p:nvSpPr>
          <p:cNvPr id="3" name="Text 1"/>
          <p:cNvSpPr txBox="1"/>
          <p:nvPr/>
        </p:nvSpPr>
        <p:spPr>
          <a:xfrm>
            <a:off x="457200" y="4800600"/>
            <a:ext cx="8229600" cy="228600"/>
          </a:xfrm>
          <a:prstGeom prst="rect">
            <a:avLst/>
          </a:prstGeom>
          <a:noFill/>
          <a:ln/>
        </p:spPr>
        <p:txBody>
          <a:bodyPr wrap="square" lIns="0" tIns="0" rIns="0" bIns="0" rtlCol="0" anchor="t"/>
          <a:lstStyle/>
          <a:p>
            <a:pPr marL="0" indent="0">
              <a:buNone/>
            </a:pP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2133600"/>
        </p:xfrm>
        <a:graphic>
          <a:graphicData uri="http://schemas.openxmlformats.org/drawingml/2006/table">
            <a:tbl>
              <a:tblPr/>
              <a:tblGrid>
                <a:gridCol w="27432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0">
                <a:tc>
                  <a:txBody>
                    <a:bodyPr/>
                    <a:lstStyle/>
                    <a:p>
                      <a:pPr marL="0" indent="0">
                        <a:buNone/>
                      </a:pPr>
                      <a:r>
                        <a:rPr lang="en-US" sz="1100" b="1" dirty="0">
                          <a:solidFill>
                            <a:srgbClr val="22D3EE"/>
                          </a:solidFill>
                          <a:latin typeface="Calibri" pitchFamily="34" charset="0"/>
                          <a:ea typeface="Calibri" pitchFamily="34" charset="-122"/>
                          <a:cs typeface="Calibri" pitchFamily="34" charset="-120"/>
                        </a:rPr>
                        <a:t>Test case</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B2740"/>
                    </a:solidFill>
                  </a:tcPr>
                </a:tc>
                <a:tc>
                  <a:txBody>
                    <a:bodyPr/>
                    <a:lstStyle/>
                    <a:p>
                      <a:pPr marL="0" indent="0">
                        <a:buNone/>
                      </a:pPr>
                      <a:r>
                        <a:rPr lang="en-US" sz="1100" b="1" dirty="0">
                          <a:solidFill>
                            <a:srgbClr val="22D3EE"/>
                          </a:solidFill>
                          <a:latin typeface="Calibri" pitchFamily="34" charset="0"/>
                          <a:ea typeface="Calibri" pitchFamily="34" charset="-122"/>
                          <a:cs typeface="Calibri" pitchFamily="34" charset="-120"/>
                        </a:rPr>
                        <a:t>Initial condition</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B2740"/>
                    </a:solidFill>
                  </a:tcPr>
                </a:tc>
                <a:tc>
                  <a:txBody>
                    <a:bodyPr/>
                    <a:lstStyle/>
                    <a:p>
                      <a:pPr marL="0" indent="0">
                        <a:buNone/>
                      </a:pPr>
                      <a:r>
                        <a:rPr lang="en-US" sz="1100" b="1" dirty="0">
                          <a:solidFill>
                            <a:srgbClr val="22D3EE"/>
                          </a:solidFill>
                          <a:latin typeface="Calibri" pitchFamily="34" charset="0"/>
                          <a:ea typeface="Calibri" pitchFamily="34" charset="-122"/>
                          <a:cs typeface="Calibri" pitchFamily="34" charset="-120"/>
                        </a:rPr>
                        <a:t>Expected</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B2740"/>
                    </a:solidFill>
                  </a:tcPr>
                </a:tc>
                <a:tc>
                  <a:txBody>
                    <a:bodyPr/>
                    <a:lstStyle/>
                    <a:p>
                      <a:pPr marL="0" indent="0">
                        <a:buNone/>
                      </a:pPr>
                      <a:r>
                        <a:rPr lang="en-US" sz="1100" b="1" dirty="0">
                          <a:solidFill>
                            <a:srgbClr val="22D3EE"/>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B2740"/>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Frame pack/unpack, CRC32 (test_transfer)</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Unit level</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Round-trip OK; bad magic or short frame rejected</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b="1" dirty="0">
                          <a:solidFill>
                            <a:srgbClr val="FBBF24"/>
                          </a:solidFill>
                          <a:latin typeface="Calibri" pitchFamily="34" charset="0"/>
                          <a:ea typeface="Calibri" pitchFamily="34" charset="-122"/>
                          <a:cs typeface="Calibri" pitchFamily="34" charset="-120"/>
                        </a:rPr>
                        <a:t>PENDING: run</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16 KB and 40 KB transfer</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Server listening</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Received file equals original</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b="1" dirty="0">
                          <a:solidFill>
                            <a:srgbClr val="FBBF24"/>
                          </a:solidFill>
                          <a:latin typeface="Calibri" pitchFamily="34" charset="0"/>
                          <a:ea typeface="Calibri" pitchFamily="34" charset="-122"/>
                          <a:cs typeface="Calibri" pitchFamily="34" charset="-120"/>
                        </a:rPr>
                        <a:t>PENDING: run</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Corrupted chunk (bad CRC32)</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Forged chunk</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Server drops chunk</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b="1" dirty="0">
                          <a:solidFill>
                            <a:srgbClr val="FBBF24"/>
                          </a:solidFill>
                          <a:latin typeface="Calibri" pitchFamily="34" charset="0"/>
                          <a:ea typeface="Calibri" pitchFamily="34" charset="-122"/>
                          <a:cs typeface="Calibri" pitchFamily="34" charset="-120"/>
                        </a:rPr>
                        <a:t>PENDING: run</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Resume after 3 chunks</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Partial file</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Completes from chunk 3</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b="1" dirty="0">
                          <a:solidFill>
                            <a:srgbClr val="FBBF24"/>
                          </a:solidFill>
                          <a:latin typeface="Calibri" pitchFamily="34" charset="0"/>
                          <a:ea typeface="Calibri" pitchFamily="34" charset="-122"/>
                          <a:cs typeface="Calibri" pitchFamily="34" charset="-120"/>
                        </a:rPr>
                        <a:t>PENDING: run</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3 concurrent clients</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Threaded server</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All transfers succeed</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b="1" dirty="0">
                          <a:solidFill>
                            <a:srgbClr val="FBBF24"/>
                          </a:solidFill>
                          <a:latin typeface="Calibri" pitchFamily="34" charset="0"/>
                          <a:ea typeface="Calibri" pitchFamily="34" charset="-122"/>
                          <a:cs typeface="Calibri" pitchFamily="34" charset="-120"/>
                        </a:rPr>
                        <a:t>PENDING: run</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extLst>
                  <a:ext uri="{0D108BD9-81ED-4DB2-BD59-A6C34878D82A}">
                    <a16:rowId xmlns:a16="http://schemas.microsoft.com/office/drawing/2014/main" val="10005"/>
                  </a:ext>
                </a:extLst>
              </a:tr>
              <a:tr h="0">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Dijkstra recompute (graph only)</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Edge removed, restored</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Alternate path, then optimal restored</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b="1" dirty="0">
                          <a:solidFill>
                            <a:srgbClr val="FBBF24"/>
                          </a:solidFill>
                          <a:latin typeface="Calibri" pitchFamily="34" charset="0"/>
                          <a:ea typeface="Calibri" pitchFamily="34" charset="-122"/>
                          <a:cs typeface="Calibri" pitchFamily="34" charset="-120"/>
                        </a:rPr>
                        <a:t>PENDING: run</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extLst>
                  <a:ext uri="{0D108BD9-81ED-4DB2-BD59-A6C34878D82A}">
                    <a16:rowId xmlns:a16="http://schemas.microsoft.com/office/drawing/2014/main" val="10006"/>
                  </a:ext>
                </a:extLst>
              </a:tr>
              <a:tr h="0">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pingall + dump-flows</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Topology and Ryu up</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All hosts reachable; flows present</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b="1" dirty="0">
                          <a:solidFill>
                            <a:srgbClr val="F87171"/>
                          </a:solidFill>
                          <a:latin typeface="Calibri" pitchFamily="34" charset="0"/>
                          <a:ea typeface="Calibri" pitchFamily="34" charset="-122"/>
                          <a:cs typeface="Calibri" pitchFamily="34" charset="-120"/>
                        </a:rPr>
                        <a:t>NOT DOCUMENTED</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extLst>
                  <a:ext uri="{0D108BD9-81ED-4DB2-BD59-A6C34878D82A}">
                    <a16:rowId xmlns:a16="http://schemas.microsoft.com/office/drawing/2014/main" val="10007"/>
                  </a:ext>
                </a:extLst>
              </a:tr>
              <a:tr h="0">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Live s1–s2 down mid-transfer</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1 MB transfer</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dirty="0">
                          <a:solidFill>
                            <a:srgbClr val="E5E7EB"/>
                          </a:solidFill>
                          <a:latin typeface="Calibri" pitchFamily="34" charset="0"/>
                          <a:ea typeface="Calibri" pitchFamily="34" charset="-122"/>
                          <a:cs typeface="Calibri" pitchFamily="34" charset="-120"/>
                        </a:rPr>
                        <a:t>Reroute, 128/128, hash match</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tc>
                  <a:txBody>
                    <a:bodyPr/>
                    <a:lstStyle/>
                    <a:p>
                      <a:pPr marL="0" indent="0">
                        <a:buNone/>
                      </a:pPr>
                      <a:r>
                        <a:rPr lang="en-US" sz="1100" b="1" dirty="0">
                          <a:solidFill>
                            <a:srgbClr val="22D3EE"/>
                          </a:solidFill>
                          <a:latin typeface="Calibri" pitchFamily="34" charset="0"/>
                          <a:ea typeface="Calibri" pitchFamily="34" charset="-122"/>
                          <a:cs typeface="Calibri" pitchFamily="34" charset="-120"/>
                        </a:rPr>
                        <a:t>REPORTED: re-verify</a:t>
                      </a:r>
                      <a:endParaRPr lang="en-US" sz="1100" dirty="0">
                        <a:latin typeface="Calibri" charset="0"/>
                        <a:ea typeface="Calibri" charset="0"/>
                        <a:cs typeface="Calibri" charset="0"/>
                      </a:endParaRPr>
                    </a:p>
                  </a:txBody>
                  <a:tcPr marL="63500" marR="63500" marT="25400" marB="25400" anchor="ctr">
                    <a:lnL w="6350" cap="flat" cmpd="sng" algn="ctr">
                      <a:solidFill>
                        <a:srgbClr val="263247"/>
                      </a:solidFill>
                      <a:prstDash val="solid"/>
                      <a:round/>
                      <a:headEnd type="none" w="med" len="med"/>
                      <a:tailEnd type="none" w="med" len="med"/>
                    </a:lnL>
                    <a:lnR w="6350" cap="flat" cmpd="sng" algn="ctr">
                      <a:solidFill>
                        <a:srgbClr val="263247"/>
                      </a:solidFill>
                      <a:prstDash val="solid"/>
                      <a:round/>
                      <a:headEnd type="none" w="med" len="med"/>
                      <a:tailEnd type="none" w="med" len="med"/>
                    </a:lnR>
                    <a:lnT w="6350" cap="flat" cmpd="sng" algn="ctr">
                      <a:solidFill>
                        <a:srgbClr val="263247"/>
                      </a:solidFill>
                      <a:prstDash val="solid"/>
                      <a:round/>
                      <a:headEnd type="none" w="med" len="med"/>
                      <a:tailEnd type="none" w="med" len="med"/>
                    </a:lnT>
                    <a:lnB w="6350" cap="flat" cmpd="sng" algn="ctr">
                      <a:solidFill>
                        <a:srgbClr val="263247"/>
                      </a:solidFill>
                      <a:prstDash val="solid"/>
                      <a:round/>
                      <a:headEnd type="none" w="med" len="med"/>
                      <a:tailEnd type="none" w="med" len="med"/>
                    </a:lnB>
                    <a:solidFill>
                      <a:srgbClr val="131C2E"/>
                    </a:solid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02920"/>
          </a:xfrm>
          <a:prstGeom prst="rect">
            <a:avLst/>
          </a:prstGeom>
          <a:noFill/>
          <a:ln/>
        </p:spPr>
        <p:txBody>
          <a:bodyPr wrap="square" lIns="0" tIns="0" rIns="0" bIns="0" rtlCol="0" anchor="ctr"/>
          <a:lstStyle/>
          <a:p>
            <a:pPr marL="0" indent="0">
              <a:buNone/>
            </a:pPr>
            <a:r>
              <a:rPr lang="en-US" sz="2600" b="1" dirty="0">
                <a:solidFill>
                  <a:srgbClr val="E5E7EB"/>
                </a:solidFill>
                <a:latin typeface="Calibri" pitchFamily="34" charset="0"/>
                <a:ea typeface="Calibri" pitchFamily="34" charset="-122"/>
                <a:cs typeface="Calibri" pitchFamily="34" charset="-120"/>
              </a:rPr>
              <a:t>Conclusion, Limitations and Future Scope</a:t>
            </a:r>
            <a:endParaRPr lang="en-US" sz="2600" dirty="0"/>
          </a:p>
        </p:txBody>
      </p:sp>
      <p:sp>
        <p:nvSpPr>
          <p:cNvPr id="3" name="Text 1"/>
          <p:cNvSpPr txBox="1"/>
          <p:nvPr/>
        </p:nvSpPr>
        <p:spPr>
          <a:xfrm>
            <a:off x="457200" y="4800600"/>
            <a:ext cx="8229600" cy="228600"/>
          </a:xfrm>
          <a:prstGeom prst="rect">
            <a:avLst/>
          </a:prstGeom>
          <a:noFill/>
          <a:ln/>
        </p:spPr>
        <p:txBody>
          <a:bodyPr wrap="square" lIns="0" tIns="0" rIns="0" bIns="0" rtlCol="0" anchor="t"/>
          <a:lstStyle/>
          <a:p>
            <a:pPr marL="0" indent="0">
              <a:buNone/>
            </a:pPr>
            <a:endParaRPr lang="en-US" sz="1000" dirty="0"/>
          </a:p>
        </p:txBody>
      </p:sp>
      <p:sp>
        <p:nvSpPr>
          <p:cNvPr id="5" name="Shape 2"/>
          <p:cNvSpPr/>
          <p:nvPr/>
        </p:nvSpPr>
        <p:spPr>
          <a:xfrm>
            <a:off x="457200" y="914400"/>
            <a:ext cx="2651760" cy="3749040"/>
          </a:xfrm>
          <a:prstGeom prst="roundRect">
            <a:avLst>
              <a:gd name="adj" fmla="val 2759"/>
            </a:avLst>
          </a:prstGeom>
          <a:solidFill>
            <a:srgbClr val="131C2E"/>
          </a:solidFill>
          <a:ln w="12700">
            <a:solidFill>
              <a:srgbClr val="22D3EE"/>
            </a:solidFill>
            <a:prstDash val="solid"/>
          </a:ln>
        </p:spPr>
      </p:sp>
      <p:sp>
        <p:nvSpPr>
          <p:cNvPr id="6" name="Text 3"/>
          <p:cNvSpPr txBox="1"/>
          <p:nvPr/>
        </p:nvSpPr>
        <p:spPr>
          <a:xfrm>
            <a:off x="594360" y="1005840"/>
            <a:ext cx="2377440" cy="274320"/>
          </a:xfrm>
          <a:prstGeom prst="rect">
            <a:avLst/>
          </a:prstGeom>
          <a:noFill/>
          <a:ln/>
        </p:spPr>
        <p:txBody>
          <a:bodyPr wrap="square" lIns="0" tIns="0" rIns="0" bIns="0" rtlCol="0" anchor="t"/>
          <a:lstStyle/>
          <a:p>
            <a:pPr marL="0" indent="0">
              <a:buNone/>
            </a:pPr>
            <a:r>
              <a:rPr lang="en-US" sz="1400" b="1" dirty="0">
                <a:solidFill>
                  <a:srgbClr val="22D3EE"/>
                </a:solidFill>
                <a:latin typeface="Calibri" pitchFamily="34" charset="0"/>
                <a:ea typeface="Calibri" pitchFamily="34" charset="-122"/>
                <a:cs typeface="Calibri" pitchFamily="34" charset="-120"/>
              </a:rPr>
              <a:t>Demonstrates</a:t>
            </a:r>
            <a:endParaRPr lang="en-US" sz="1400" dirty="0"/>
          </a:p>
        </p:txBody>
      </p:sp>
      <p:sp>
        <p:nvSpPr>
          <p:cNvPr id="7" name="Text 4"/>
          <p:cNvSpPr txBox="1"/>
          <p:nvPr/>
        </p:nvSpPr>
        <p:spPr>
          <a:xfrm>
            <a:off x="594360" y="1325880"/>
            <a:ext cx="2377440" cy="3246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TCP sockets with a custom framed protocol</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CRC32 integrity, chunk ACKs, resume</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Mininet + OpenFlow 1.3 + Ryu</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Dijkstra rerouting on link failure</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Strongest result: 1.3 s recovery, 128/128 chunks (reported)</a:t>
            </a:r>
            <a:endParaRPr lang="en-US" sz="1200" dirty="0"/>
          </a:p>
        </p:txBody>
      </p:sp>
      <p:sp>
        <p:nvSpPr>
          <p:cNvPr id="8" name="Shape 5"/>
          <p:cNvSpPr/>
          <p:nvPr/>
        </p:nvSpPr>
        <p:spPr>
          <a:xfrm>
            <a:off x="3246120" y="914400"/>
            <a:ext cx="2651760" cy="3749040"/>
          </a:xfrm>
          <a:prstGeom prst="roundRect">
            <a:avLst>
              <a:gd name="adj" fmla="val 2759"/>
            </a:avLst>
          </a:prstGeom>
          <a:solidFill>
            <a:srgbClr val="131C2E"/>
          </a:solidFill>
          <a:ln w="12700">
            <a:solidFill>
              <a:srgbClr val="FBBF24"/>
            </a:solidFill>
            <a:prstDash val="solid"/>
          </a:ln>
        </p:spPr>
      </p:sp>
      <p:sp>
        <p:nvSpPr>
          <p:cNvPr id="9" name="Text 6"/>
          <p:cNvSpPr txBox="1"/>
          <p:nvPr/>
        </p:nvSpPr>
        <p:spPr>
          <a:xfrm>
            <a:off x="3383280" y="1005840"/>
            <a:ext cx="2377440" cy="274320"/>
          </a:xfrm>
          <a:prstGeom prst="rect">
            <a:avLst/>
          </a:prstGeom>
          <a:noFill/>
          <a:ln/>
        </p:spPr>
        <p:txBody>
          <a:bodyPr wrap="square" lIns="0" tIns="0" rIns="0" bIns="0" rtlCol="0" anchor="t"/>
          <a:lstStyle/>
          <a:p>
            <a:pPr marL="0" indent="0">
              <a:buNone/>
            </a:pPr>
            <a:r>
              <a:rPr lang="en-US" sz="1400" b="1" dirty="0">
                <a:solidFill>
                  <a:srgbClr val="FBBF24"/>
                </a:solidFill>
                <a:latin typeface="Calibri" pitchFamily="34" charset="0"/>
                <a:ea typeface="Calibri" pitchFamily="34" charset="-122"/>
                <a:cs typeface="Calibri" pitchFamily="34" charset="-120"/>
              </a:rPr>
              <a:t>Limitations</a:t>
            </a:r>
            <a:endParaRPr lang="en-US" sz="1400" dirty="0"/>
          </a:p>
        </p:txBody>
      </p:sp>
      <p:sp>
        <p:nvSpPr>
          <p:cNvPr id="10" name="Text 7"/>
          <p:cNvSpPr txBox="1"/>
          <p:nvPr/>
        </p:nvSpPr>
        <p:spPr>
          <a:xfrm>
            <a:off x="3383280" y="1325880"/>
            <a:ext cx="2377440" cy="3246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Controller and app are decoupled</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SDN unit tests are graph-level</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1 MB file, 5 runs only</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CRC32 only; no TLS or auth</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Static baseline not measured for throughput</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Redundancy is failover; replication unconfirmed</a:t>
            </a:r>
            <a:endParaRPr lang="en-US" sz="1200" dirty="0"/>
          </a:p>
        </p:txBody>
      </p:sp>
      <p:sp>
        <p:nvSpPr>
          <p:cNvPr id="11" name="Shape 8"/>
          <p:cNvSpPr/>
          <p:nvPr/>
        </p:nvSpPr>
        <p:spPr>
          <a:xfrm>
            <a:off x="6035040" y="914400"/>
            <a:ext cx="2651760" cy="3749040"/>
          </a:xfrm>
          <a:prstGeom prst="roundRect">
            <a:avLst>
              <a:gd name="adj" fmla="val 2759"/>
            </a:avLst>
          </a:prstGeom>
          <a:solidFill>
            <a:srgbClr val="131C2E"/>
          </a:solidFill>
          <a:ln w="12700">
            <a:solidFill>
              <a:srgbClr val="A78BFA"/>
            </a:solidFill>
            <a:prstDash val="solid"/>
          </a:ln>
        </p:spPr>
      </p:sp>
      <p:sp>
        <p:nvSpPr>
          <p:cNvPr id="12" name="Text 9"/>
          <p:cNvSpPr txBox="1"/>
          <p:nvPr/>
        </p:nvSpPr>
        <p:spPr>
          <a:xfrm>
            <a:off x="6172200" y="1005840"/>
            <a:ext cx="2377440" cy="274320"/>
          </a:xfrm>
          <a:prstGeom prst="rect">
            <a:avLst/>
          </a:prstGeom>
          <a:noFill/>
          <a:ln/>
        </p:spPr>
        <p:txBody>
          <a:bodyPr wrap="square" lIns="0" tIns="0" rIns="0" bIns="0" rtlCol="0" anchor="t"/>
          <a:lstStyle/>
          <a:p>
            <a:pPr marL="0" indent="0">
              <a:buNone/>
            </a:pPr>
            <a:r>
              <a:rPr lang="en-US" sz="1400" b="1" dirty="0">
                <a:solidFill>
                  <a:srgbClr val="A78BFA"/>
                </a:solidFill>
                <a:latin typeface="Calibri" pitchFamily="34" charset="0"/>
                <a:ea typeface="Calibri" pitchFamily="34" charset="-122"/>
                <a:cs typeface="Calibri" pitchFamily="34" charset="-120"/>
              </a:rPr>
              <a:t>Future scope</a:t>
            </a:r>
            <a:endParaRPr lang="en-US" sz="1400" dirty="0"/>
          </a:p>
        </p:txBody>
      </p:sp>
      <p:sp>
        <p:nvSpPr>
          <p:cNvPr id="13" name="Text 10"/>
          <p:cNvSpPr txBox="1"/>
          <p:nvPr/>
        </p:nvSpPr>
        <p:spPr>
          <a:xfrm>
            <a:off x="6172200" y="1325880"/>
            <a:ext cx="2377440" cy="3246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Larger files, loss % and recovery sweeps</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SHA-256 + TLS</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Controller REST hook for app-aware routing</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Bandwidth-aware weights from flow stats</a:t>
            </a:r>
            <a:endParaRPr lang="en-US" sz="1200" dirty="0"/>
          </a:p>
          <a:p>
            <a:pPr marL="342900" indent="-342900">
              <a:spcAft>
                <a:spcPts val="400"/>
              </a:spcAft>
              <a:buSzPct val="100000"/>
              <a:buChar char="•"/>
            </a:pPr>
            <a:r>
              <a:rPr lang="en-US" sz="1200" dirty="0">
                <a:solidFill>
                  <a:srgbClr val="E5E7EB"/>
                </a:solidFill>
                <a:latin typeface="Calibri" pitchFamily="34" charset="0"/>
                <a:ea typeface="Calibri" pitchFamily="34" charset="-122"/>
                <a:cs typeface="Calibri" pitchFamily="34" charset="-120"/>
              </a:rPr>
              <a:t>Replicate chunks to both servers</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1282</TotalTime>
  <Words>2000</Words>
  <Application>Microsoft Office PowerPoint</Application>
  <PresentationFormat>On-screen Show (16:9)</PresentationFormat>
  <Paragraphs>296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Backup System Using TCP Sockets and SDN</dc:title>
  <dc:subject>PptxGenJS Presentation</dc:subject>
  <dc:creator>Anubhav, Arush, Aryan</dc:creator>
  <cp:lastModifiedBy>Anubhav Rai</cp:lastModifiedBy>
  <cp:revision>3</cp:revision>
  <dcterms:created xsi:type="dcterms:W3CDTF">2026-10-11T12:55:33Z</dcterms:created>
  <dcterms:modified xsi:type="dcterms:W3CDTF">2026-10-12T18:14:47Z</dcterms:modified>
</cp:coreProperties>
</file>